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1c13cc4d0b43da" /><Relationship Type="http://schemas.openxmlformats.org/officeDocument/2006/relationships/extended-properties" Target="/docProps/app.xml" Id="R092f92325b6a4117" /><Relationship Type="http://schemas.openxmlformats.org/officeDocument/2006/relationships/officeDocument" Target="/ppt/presentation.xml" Id="R9a703d47168643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31e6748764405"/>
  </p:sldMasterIdLst>
  <p:notesMasterIdLst>
    <p:notesMasterId xmlns:r="http://schemas.openxmlformats.org/officeDocument/2006/relationships" r:id="Rc6a23f1cb94e4bf8"/>
  </p:notesMasterIdLst>
  <p:sldIdLst>
    <p:sldId xmlns:r="http://schemas.openxmlformats.org/officeDocument/2006/relationships" id="256" r:id="Rd059c23b64e5403d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5738E33-45E3-4656-82C1-05467E921EFD}">
  <a:tblStyle styleId="{55738E33-45E3-4656-82C1-05467E921E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5cd3b71334372" /><Relationship Type="http://schemas.openxmlformats.org/officeDocument/2006/relationships/slideMaster" Target="/ppt/slideMasters/slideMaster1.xml" Id="Rc1e31e6748764405" /><Relationship Type="http://schemas.openxmlformats.org/officeDocument/2006/relationships/notesMaster" Target="/ppt/notesMasters/notesMaster1.xml" Id="Rc6a23f1cb94e4bf8" /><Relationship Type="http://schemas.openxmlformats.org/officeDocument/2006/relationships/presProps" Target="/ppt/presProps.xml" Id="Rbfa58d8389314864" /><Relationship Type="http://schemas.openxmlformats.org/officeDocument/2006/relationships/viewProps" Target="/ppt/viewProps.xml" Id="R7d1257b14289468f" /><Relationship Type="http://schemas.openxmlformats.org/officeDocument/2006/relationships/tableStyles" Target="/ppt/tableStyles.xml" Id="R6b08d73a71504d0a" /><Relationship Type="http://schemas.openxmlformats.org/officeDocument/2006/relationships/slide" Target="/ppt/slides/slide1.xml" Id="Rd059c23b64e5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b92023dd241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DYSSEY Navy Yellow">
      <a:dk1>
        <a:srgbClr val="202020"/>
      </a:dk1>
      <a:lt1>
        <a:srgbClr val="FFFFFF"/>
      </a:lt1>
      <a:dk2>
        <a:srgbClr val="062F5B"/>
      </a:dk2>
      <a:lt2>
        <a:srgbClr val="F7F6F2"/>
      </a:lt2>
      <a:accent1>
        <a:srgbClr val="062F5B"/>
      </a:accent1>
      <a:accent2>
        <a:srgbClr val="FFB515"/>
      </a:accent2>
      <a:accent3>
        <a:srgbClr val="65707C"/>
      </a:accent3>
      <a:accent4>
        <a:srgbClr val="EAEDEB"/>
      </a:accent4>
      <a:accent5>
        <a:srgbClr val="202020"/>
      </a:accent5>
      <a:accent6>
        <a:srgbClr val="CCD6E1"/>
      </a:accent6>
      <a:hlink>
        <a:srgbClr val="062F5B"/>
      </a:hlink>
      <a:folHlink>
        <a:srgbClr val="062F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YSSEY Navy Yel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25f6e1a4a64f52" /><Relationship Type="http://schemas.openxmlformats.org/officeDocument/2006/relationships/notesMaster" Target="/ppt/notesMasters/notesMaster1.xml" Id="Rcd4fd40a089644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 도입 예시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2026년 10월 27일, 우리가 교육을 받는 개포디지털혁신파크 남쪽 구룡마을에서 화재가 발생했습니다. 재난 소식을 접한 우리는 지금 이동해야 할지, 도움이 필요한 사람은 어떻게 움직여야 할지 궁금할 수 있습니다. 봉화지기는 사용자의 위치와 이동·지원 조건을 반영해 지금 필요한 재난 대응을 간단히 추천하는 서비스를 목표로 합니다. 산불을 MVP로 개발하며 이 도시화재 사례는 문제 제기의 계기입니다. 당시 교육장에 실제 대피가 필요했다는 결론이나 실제 제공된 추천을 뜻하지 않습니다. 공식 현장 지시를 우선합니다.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사실과 도식의 구분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지도는 수집 시점의 OpenStreetMap 배경으로, 2026-10-27 당시의 화재 관측지도나 역사 지도는 아닙니다. 북쪽이 위입니다.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교육장 주소는 공식 사이트와 사용자 확인으로 확정했습니다. 점은 민간 주소 변환 사이트의 주소 대표 좌표(37.488446057074,127.06435123696)이며 측량·출입구 좌표가 아닙니다.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구룡마을 점(37.476825,127.0639027778)은 Wikimedia Commons의 마을 대표 좌표이며 최초 발화지점·2지구 좌표·피해범위가 아닙니다. 발화점과 확산 경계의 공식 좌표는 미수집입니다.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방향 도식은 아이뉴스24의 2026-10-27 20:36 기사에서 같은 날 19:30 소방 2차 브리핑을 인용한 내용을 요약했습니다. 초기 서쪽 구룡산 방향에서 바람 변화 후 남쪽 3·5·7지구 방향으로 확대됐다는 언론 보도입니다. 소방 원문·실제 시각별 화선·현장 풍향 관측값을 확보한 것은 아닙니다. 지도와 분리한 화살표는 길이·범위·속도·정확한 궤적을 나타내지 않습니다. 교육장 방향 확산의 근거도 없습니다.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사건 발생은 강남구 공식 보도자료로 교차 확인했습니다. 숫자와 진압 시각의 출처별 차이를 표지에 넣지 않았습니다.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[공식 주소] 이노베이션아카데미 오시는 길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https://www.innovationacademy.kr/academy/contents/view?contentsNo=6&amp;level=2&amp;menuNo=7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[공식 사건 확인] 강남구, 구룡마을 화재 이재민 긴급 지원 (2026-10-30)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https://gangnam.go.kr/board/B_000031/1075546/view.do?mid=ID01_0313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[언론의 소방 브리핑 인용] 아이뉴스24 (2026-10-27 20:36 KST)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https://m.inews24.com/v/2019637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[민간 주소 대표 좌표] 주소가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https://jusoga.com/b/1168010300101530000028234/서울특별시-강남구-개포로-416-개포동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[마을 대표 좌표] Wikimedia Commons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https://commons.wikimedia.org/wiki/Category:Guryongmaeul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[지도] © OpenStreetMap contributors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https://www.openstreetmap.org/copyright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타일 수집시각: 2026-10-31T12:51:05.960333+00:00 (UTC). 자료 확인일: 2026-10-31 KST. 수집시각은 사건·관측시각과 다릅니다.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발표 유의사항</a:t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교육장과 사건의 근접성만으로 위협이나 대피 경로를 단정하지 않습니다. 원하면 방향 도식을 뺀 같은 지도만으로도 문제 제기가 가능합니다. 본 장의 추천 문구는 서비스 목표이며 실시간 예측·안전 경로 성능의 검증 결과가 아닙니다.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c254ceac141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0f98fb4004c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e8c9c78ff49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27cfd8f714b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be083b26941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47045a85a42bf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4">
            <a:extLst xmlns:a="http://schemas.openxmlformats.org/drawingml/2006/main">
              <a:ext uri="{FF2B5EF4-FFF2-40B4-BE49-F238E27FC236}">
                <a16:creationId xmlns:a16="http://schemas.microsoft.com/office/drawing/2014/main" id="{6CB53355-E04D-4E39-B043-817F2FFD2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4">
            <a:extLst xmlns:a="http://schemas.openxmlformats.org/drawingml/2006/main">
              <a:ext uri="{FF2B5EF4-FFF2-40B4-BE49-F238E27FC236}">
                <a16:creationId xmlns:a16="http://schemas.microsoft.com/office/drawing/2014/main" id="{836F1109-9436-41F0-8B82-D10083E7C0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15">
            <a:extLst xmlns:a="http://schemas.openxmlformats.org/drawingml/2006/main">
              <a:ext uri="{FF2B5EF4-FFF2-40B4-BE49-F238E27FC236}">
                <a16:creationId xmlns:a16="http://schemas.microsoft.com/office/drawing/2014/main" id="{D7E57AF7-9353-418B-8483-416E7FB70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Body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6">
            <a:extLst xmlns:a="http://schemas.openxmlformats.org/drawingml/2006/main">
              <a:ext uri="{FF2B5EF4-FFF2-40B4-BE49-F238E27FC236}">
                <a16:creationId xmlns:a16="http://schemas.microsoft.com/office/drawing/2014/main" id="{DE1FCE1F-9BEA-4727-AA43-FD60BF5BA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16">
            <a:extLst xmlns:a="http://schemas.openxmlformats.org/drawingml/2006/main">
              <a:ext uri="{FF2B5EF4-FFF2-40B4-BE49-F238E27FC236}">
                <a16:creationId xmlns:a16="http://schemas.microsoft.com/office/drawing/2014/main" id="{0B958462-9971-4AD3-A02F-6B3B2ECC8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7147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71475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wo Colum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17">
            <a:extLst xmlns:a="http://schemas.openxmlformats.org/drawingml/2006/main">
              <a:ext uri="{FF2B5EF4-FFF2-40B4-BE49-F238E27FC236}">
                <a16:creationId xmlns:a16="http://schemas.microsoft.com/office/drawing/2014/main" id="{FADA31BE-0815-4370-84AC-D794FA6E7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1" name="Google Shape;21;p17">
            <a:extLst xmlns:a="http://schemas.openxmlformats.org/drawingml/2006/main">
              <a:ext uri="{FF2B5EF4-FFF2-40B4-BE49-F238E27FC236}">
                <a16:creationId xmlns:a16="http://schemas.microsoft.com/office/drawing/2014/main" id="{11AD31F9-45E7-4243-8819-DE4D4500A8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6195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17">
            <a:extLst xmlns:a="http://schemas.openxmlformats.org/drawingml/2006/main">
              <a:ext uri="{FF2B5EF4-FFF2-40B4-BE49-F238E27FC236}">
                <a16:creationId xmlns:a16="http://schemas.microsoft.com/office/drawing/2014/main" id="{C9065E04-BB02-4019-9119-F57A9D12BB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6195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6195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and One Colum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18">
            <a:extLst xmlns:a="http://schemas.openxmlformats.org/drawingml/2006/main">
              <a:ext uri="{FF2B5EF4-FFF2-40B4-BE49-F238E27FC236}">
                <a16:creationId xmlns:a16="http://schemas.microsoft.com/office/drawing/2014/main" id="{A354A951-3CB6-4212-8F07-5A3C80CC5B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18">
            <a:extLst xmlns:a="http://schemas.openxmlformats.org/drawingml/2006/main">
              <a:ext uri="{FF2B5EF4-FFF2-40B4-BE49-F238E27FC236}">
                <a16:creationId xmlns:a16="http://schemas.microsoft.com/office/drawing/2014/main" id="{F41596E4-E9DE-4CD2-A773-F08E7378D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7147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71475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71475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8ff876b7a4b26" /><Relationship Type="http://schemas.openxmlformats.org/officeDocument/2006/relationships/slideLayout" Target="/ppt/slideLayouts/slideLayout1.xml" Id="R5e7876db16aa491a" /><Relationship Type="http://schemas.openxmlformats.org/officeDocument/2006/relationships/slideLayout" Target="/ppt/slideLayouts/slideLayout2.xml" Id="R9a6e867e49eb4035" /><Relationship Type="http://schemas.openxmlformats.org/officeDocument/2006/relationships/slideLayout" Target="/ppt/slideLayouts/slideLayout3.xml" Id="R890cbb674e014a47" /><Relationship Type="http://schemas.openxmlformats.org/officeDocument/2006/relationships/slideLayout" Target="/ppt/slideLayouts/slideLayout4.xml" Id="R16313fd5c0804a5d" /><Relationship Type="http://schemas.openxmlformats.org/officeDocument/2006/relationships/slideLayout" Target="/ppt/slideLayouts/slideLayout5.xml" Id="R6dddae9ba41d4eda" /><Relationship Type="http://schemas.openxmlformats.org/officeDocument/2006/relationships/slideLayout" Target="/ppt/slideLayouts/slideLayout6.xml" Id="Rb388f78b04fc4ef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7876db16aa491a"/>
    <p:sldLayoutId xmlns:r="http://schemas.openxmlformats.org/officeDocument/2006/relationships" id="2147483650" r:id="R9a6e867e49eb4035"/>
    <p:sldLayoutId xmlns:r="http://schemas.openxmlformats.org/officeDocument/2006/relationships" id="2147483651" r:id="R890cbb674e014a47"/>
    <p:sldLayoutId xmlns:r="http://schemas.openxmlformats.org/officeDocument/2006/relationships" id="2147483652" r:id="R16313fd5c0804a5d"/>
    <p:sldLayoutId xmlns:r="http://schemas.openxmlformats.org/officeDocument/2006/relationships" id="2147483653" r:id="R6dddae9ba41d4eda"/>
    <p:sldLayoutId xmlns:r="http://schemas.openxmlformats.org/officeDocument/2006/relationships" id="2147483654" r:id="Rb388f78b04fc4ef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DYSSEY Navy Yellow">
      <a:dk1>
        <a:srgbClr val="202020"/>
      </a:dk1>
      <a:lt1>
        <a:srgbClr val="FFFFFF"/>
      </a:lt1>
      <a:dk2>
        <a:srgbClr val="062F5B"/>
      </a:dk2>
      <a:lt2>
        <a:srgbClr val="F7F6F2"/>
      </a:lt2>
      <a:accent1>
        <a:srgbClr val="062F5B"/>
      </a:accent1>
      <a:accent2>
        <a:srgbClr val="FFB515"/>
      </a:accent2>
      <a:accent3>
        <a:srgbClr val="65707C"/>
      </a:accent3>
      <a:accent4>
        <a:srgbClr val="EAEDEB"/>
      </a:accent4>
      <a:accent5>
        <a:srgbClr val="202020"/>
      </a:accent5>
      <a:accent6>
        <a:srgbClr val="CCD6E1"/>
      </a:accent6>
      <a:hlink>
        <a:srgbClr val="062F5B"/>
      </a:hlink>
      <a:folHlink>
        <a:srgbClr val="062F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YSSEY Navy Yel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71434b01f47a7" /><Relationship Type="http://schemas.openxmlformats.org/officeDocument/2006/relationships/image" Target="/ppt/media/image.png" Id="Rcf53866cfb524679" /><Relationship Type="http://schemas.openxmlformats.org/officeDocument/2006/relationships/notesSlide" Target="/ppt/notesSlides/notesSlide1.xml" Id="R994fb06bed4044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F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1">
            <a:extLst xmlns:a="http://schemas.openxmlformats.org/drawingml/2006/main">
              <a:ext uri="{FF2B5EF4-FFF2-40B4-BE49-F238E27FC236}">
                <a16:creationId xmlns:a16="http://schemas.microsoft.com/office/drawing/2014/main" id="{726F0B57-21B3-481C-A6D4-BC27127C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400"/>
              <a:buFont typeface="Arial"/>
              <a:buNone/>
            </a:pPr>
            <a:r>
              <a:rPr sz="140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CODYSSEY AI HACKATHON 2026</a:t>
            </a:r>
            <a:endParaRPr/>
          </a:p>
        </p:txBody>
      </p:sp>
      <p:sp>
        <p:nvSpPr>
          <p:cNvPr id="32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1D422D70-27C3-49AC-8B9C-40532D6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B515"/>
              </a:buClr>
              <a:buSzPts val="1800"/>
              <a:buFont typeface="Arial"/>
              <a:buNone/>
            </a:pPr>
            <a:r>
              <a:rPr sz="1800" b="1">
                <a:solidFill>
                  <a:srgbClr val="FFB515"/>
                </a:solidFill>
                <a:latin typeface="Arial"/>
                <a:ea typeface="Arial"/>
                <a:cs typeface="Arial"/>
              </a:rPr>
              <a:t>2026</a:t>
            </a:r>
            <a:endParaRPr/>
          </a:p>
        </p:txBody>
      </p:sp>
      <p:sp>
        <p:nvSpPr>
          <p:cNvPr id="33" name="Opening question">
            <a:extLst xmlns:a="http://schemas.openxmlformats.org/drawingml/2006/main">
              <a:ext uri="{FF2B5EF4-FFF2-40B4-BE49-F238E27FC236}">
                <a16:creationId xmlns:a16="http://schemas.microsoft.com/office/drawing/2014/main" id="{C1064066-2B7D-4816-8A0D-03F0117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B515"/>
                </a:solidFill>
                <a:latin typeface="Arial"/>
                <a:ea typeface="Arial"/>
                <a:cs typeface="Arial"/>
              </a:rPr>
              <a:t>우리 교육장 근처에 불이 났다면?</a:t>
            </a:r>
          </a:p>
        </p:txBody>
      </p:sp>
      <p:sp>
        <p:nvSpPr>
          <p:cNvPr id="34" name="Case context">
            <a:extLst xmlns:a="http://schemas.openxmlformats.org/drawingml/2006/main">
              <a:ext uri="{FF2B5EF4-FFF2-40B4-BE49-F238E27FC236}">
                <a16:creationId xmlns:a16="http://schemas.microsoft.com/office/drawing/2014/main" id="{3E7DA846-D364-4380-A923-691760B4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CD6E1"/>
                </a:solidFill>
                <a:latin typeface="Arial"/>
                <a:ea typeface="Arial"/>
                <a:cs typeface="Arial"/>
              </a:rPr>
              <a:t>2026년 10월 27일, 구룡마을 화재에서 출발한 질문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45F48-4242-46D9-8F09-553C1DD74D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3866cfb524679"/>
          <a:stretch xmlns:a="http://schemas.openxmlformats.org/drawingml/2006/main"/>
        </p:blipFill>
        <p:spPr>
          <a:xfrm xmlns:a="http://schemas.openxmlformats.org/drawingml/2006/main">
            <a:off x="609600" y="2209800"/>
            <a:ext cx="6667500" cy="3905250"/>
          </a:xfrm>
          <a:prstGeom xmlns:a="http://schemas.openxmlformats.org/drawingml/2006/main" prst="rect">
            <a:avLst/>
          </a:prstGeom>
        </p:spPr>
      </p:pic>
      <p:sp>
        <p:nvSpPr>
          <p:cNvPr id="36" name="academy location">
            <a:extLst xmlns:a="http://schemas.openxmlformats.org/drawingml/2006/main">
              <a:ext uri="{FF2B5EF4-FFF2-40B4-BE49-F238E27FC236}">
                <a16:creationId xmlns:a16="http://schemas.microsoft.com/office/drawing/2014/main" id="{BF6C133A-655F-4509-AA95-4DD58E84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069" y="24479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B7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7" name="village location">
            <a:extLst xmlns:a="http://schemas.openxmlformats.org/drawingml/2006/main">
              <a:ext uri="{FF2B5EF4-FFF2-40B4-BE49-F238E27FC236}">
                <a16:creationId xmlns:a16="http://schemas.microsoft.com/office/drawing/2014/main" id="{22D6BBD5-16B6-4CAF-97F2-3FCCB219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542" y="5698312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3D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8" name="Academy label background">
            <a:extLst xmlns:a="http://schemas.openxmlformats.org/drawingml/2006/main">
              <a:ext uri="{FF2B5EF4-FFF2-40B4-BE49-F238E27FC236}">
                <a16:creationId xmlns:a16="http://schemas.microsoft.com/office/drawing/2014/main" id="{3323742B-E2B5-410E-BD93-3306DED8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895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158"/>
          </a:solidFill>
          <a:ln xmlns:a="http://schemas.openxmlformats.org/drawingml/2006/main" w="0">
            <a:noFill/>
          </a:ln>
        </p:spPr>
      </p:sp>
      <p:sp>
        <p:nvSpPr>
          <p:cNvPr id="39" name="Academy label">
            <a:extLst xmlns:a="http://schemas.openxmlformats.org/drawingml/2006/main">
              <a:ext uri="{FF2B5EF4-FFF2-40B4-BE49-F238E27FC236}">
                <a16:creationId xmlns:a16="http://schemas.microsoft.com/office/drawing/2014/main" id="{D43ADC39-3CEF-4CB5-859B-DAAC5AA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193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우리 교육장</a:t>
            </a:r>
          </a:p>
        </p:txBody>
      </p:sp>
      <p:sp>
        <p:nvSpPr>
          <p:cNvPr id="40" name="Academy address">
            <a:extLst xmlns:a="http://schemas.openxmlformats.org/drawingml/2006/main">
              <a:ext uri="{FF2B5EF4-FFF2-40B4-BE49-F238E27FC236}">
                <a16:creationId xmlns:a16="http://schemas.microsoft.com/office/drawing/2014/main" id="{54AB95EC-2CD5-473F-AAC6-F7CDC04B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6F2"/>
                </a:solidFill>
                <a:latin typeface="Arial"/>
                <a:ea typeface="Arial"/>
                <a:cs typeface="Arial"/>
              </a:rPr>
              <a:t>개포디지털혁신파크 · 개포로 416</a:t>
            </a:r>
          </a:p>
        </p:txBody>
      </p:sp>
      <p:sp>
        <p:nvSpPr>
          <p:cNvPr id="41" name="Village label background">
            <a:extLst xmlns:a="http://schemas.openxmlformats.org/drawingml/2006/main">
              <a:ext uri="{FF2B5EF4-FFF2-40B4-BE49-F238E27FC236}">
                <a16:creationId xmlns:a16="http://schemas.microsoft.com/office/drawing/2014/main" id="{5E494B06-4038-4119-AE55-1BECCFF9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95900"/>
            <a:ext cx="23622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158"/>
          </a:solidFill>
          <a:ln xmlns:a="http://schemas.openxmlformats.org/drawingml/2006/main" w="0">
            <a:noFill/>
          </a:ln>
        </p:spPr>
      </p:sp>
      <p:sp>
        <p:nvSpPr>
          <p:cNvPr id="42" name="Village label">
            <a:extLst xmlns:a="http://schemas.openxmlformats.org/drawingml/2006/main">
              <a:ext uri="{FF2B5EF4-FFF2-40B4-BE49-F238E27FC236}">
                <a16:creationId xmlns:a16="http://schemas.microsoft.com/office/drawing/2014/main" id="{2E6C0583-12F4-4F51-8CF0-974017A5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530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515"/>
                </a:solidFill>
                <a:latin typeface="Arial"/>
                <a:ea typeface="Arial"/>
                <a:cs typeface="Arial"/>
              </a:rPr>
              <a:t>구룡마을 화재</a:t>
            </a:r>
          </a:p>
        </p:txBody>
      </p:sp>
      <p:sp>
        <p:nvSpPr>
          <p:cNvPr id="43" name="Village coordinate qualifier">
            <a:extLst xmlns:a="http://schemas.openxmlformats.org/drawingml/2006/main">
              <a:ext uri="{FF2B5EF4-FFF2-40B4-BE49-F238E27FC236}">
                <a16:creationId xmlns:a16="http://schemas.microsoft.com/office/drawing/2014/main" id="{543F9734-1F9D-4B8F-AACD-16ACEF10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6F2"/>
                </a:solidFill>
                <a:latin typeface="Arial"/>
                <a:ea typeface="Arial"/>
                <a:cs typeface="Arial"/>
              </a:rPr>
              <a:t>마을 대표 위치</a:t>
            </a:r>
          </a:p>
        </p:txBody>
      </p:sp>
      <p:sp>
        <p:nvSpPr>
          <p:cNvPr id="44" name="Map attribution background">
            <a:extLst xmlns:a="http://schemas.openxmlformats.org/drawingml/2006/main">
              <a:ext uri="{FF2B5EF4-FFF2-40B4-BE49-F238E27FC236}">
                <a16:creationId xmlns:a16="http://schemas.microsoft.com/office/drawing/2014/main" id="{21D6B963-9A2A-42ED-AA34-92A3FF2B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905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Map attribution">
            <a:extLst xmlns:a="http://schemas.openxmlformats.org/drawingml/2006/main">
              <a:ext uri="{FF2B5EF4-FFF2-40B4-BE49-F238E27FC236}">
                <a16:creationId xmlns:a16="http://schemas.microsoft.com/office/drawing/2014/main" id="{C55769D3-D16B-4280-AAFB-3E1E0B47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9150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73A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73A4B"/>
                </a:solidFill>
                <a:latin typeface="Arial"/>
                <a:ea typeface="Arial"/>
                <a:cs typeface="Arial"/>
              </a:rPr>
              <a:t>© OpenStreetMap contributors</a:t>
            </a:r>
          </a:p>
        </p:txBody>
      </p:sp>
      <p:sp>
        <p:nvSpPr>
          <p:cNvPr id="46" name="North label backing">
            <a:extLst xmlns:a="http://schemas.openxmlformats.org/drawingml/2006/main">
              <a:ext uri="{FF2B5EF4-FFF2-40B4-BE49-F238E27FC236}">
                <a16:creationId xmlns:a16="http://schemas.microsoft.com/office/drawing/2014/main" id="{1824C8A3-5B72-4A25-AB0B-09636DF9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04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North orientation">
            <a:extLst xmlns:a="http://schemas.openxmlformats.org/drawingml/2006/main">
              <a:ext uri="{FF2B5EF4-FFF2-40B4-BE49-F238E27FC236}">
                <a16:creationId xmlns:a16="http://schemas.microsoft.com/office/drawing/2014/main" id="{1F01AA47-1E5D-44DF-8F0E-C599656C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3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15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8" name="Category">
            <a:extLst xmlns:a="http://schemas.openxmlformats.org/drawingml/2006/main">
              <a:ext uri="{FF2B5EF4-FFF2-40B4-BE49-F238E27FC236}">
                <a16:creationId xmlns:a16="http://schemas.microsoft.com/office/drawing/2014/main" id="{CECAC558-0369-4E5C-ACBC-9781F0E1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193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CD6E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CD6E1"/>
                </a:solidFill>
                <a:latin typeface="Arial"/>
                <a:ea typeface="Arial"/>
                <a:cs typeface="Arial"/>
              </a:rPr>
              <a:t>AI 기반 추천 서비스</a:t>
            </a:r>
          </a:p>
        </p:txBody>
      </p:sp>
      <p:sp>
        <p:nvSpPr>
          <p:cNvPr id="49" name="Service name">
            <a:extLst xmlns:a="http://schemas.openxmlformats.org/drawingml/2006/main">
              <a:ext uri="{FF2B5EF4-FFF2-40B4-BE49-F238E27FC236}">
                <a16:creationId xmlns:a16="http://schemas.microsoft.com/office/drawing/2014/main" id="{4D227AFB-B192-4094-8673-EDF08335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0325"/>
            <a:ext cx="3886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defPPr>
            <a:lvl1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1pPr>
            <a:lvl2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2pPr>
            <a:lvl3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3pPr>
            <a:lvl4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4pPr>
            <a:lvl5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5pPr>
            <a:lvl6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6pPr>
            <a:lvl7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7pPr>
            <a:lvl8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8pPr>
            <a:lvl9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FB515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B515"/>
                </a:solidFill>
                <a:latin typeface="Arial"/>
                <a:ea typeface="Arial"/>
                <a:cs typeface="Arial"/>
              </a:rPr>
              <a:t>봉화지기</a:t>
            </a:r>
          </a:p>
        </p:txBody>
      </p:sp>
      <p:sp>
        <p:nvSpPr>
          <p:cNvPr id="50" name="Service promise">
            <a:extLst xmlns:a="http://schemas.openxmlformats.org/drawingml/2006/main">
              <a:ext uri="{FF2B5EF4-FFF2-40B4-BE49-F238E27FC236}">
                <a16:creationId xmlns:a16="http://schemas.microsoft.com/office/drawing/2014/main" id="{9EED74B9-E02C-4F46-B9EF-842D1D4D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19475"/>
            <a:ext cx="38481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6F2"/>
                </a:solidFill>
                <a:latin typeface="Arial"/>
                <a:ea typeface="Arial"/>
                <a:cs typeface="Arial"/>
              </a:rPr>
              <a:t>내 상황에 맞는</a:t>
            </a:r>
          </a:p>
          <a:p xmlns:a="http://schemas.openxmlformats.org/drawingml/2006/main">
            <a:pPr>
              <a:defRPr sz="2175" b="0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6F2"/>
                </a:solidFill>
                <a:latin typeface="Arial"/>
                <a:ea typeface="Arial"/>
                <a:cs typeface="Arial"/>
              </a:rPr>
              <a:t>재난 대응을 추천합니다</a:t>
            </a:r>
          </a:p>
        </p:txBody>
      </p:sp>
      <p:sp>
        <p:nvSpPr>
          <p:cNvPr id="51" name="Service accent">
            <a:extLst xmlns:a="http://schemas.openxmlformats.org/drawingml/2006/main">
              <a:ext uri="{FF2B5EF4-FFF2-40B4-BE49-F238E27FC236}">
                <a16:creationId xmlns:a16="http://schemas.microsoft.com/office/drawing/2014/main" id="{C33D5C62-89D6-42F9-A16A-4218D1E3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338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15"/>
          </a:solidFill>
          <a:ln xmlns:a="http://schemas.openxmlformats.org/drawingml/2006/main" w="0">
            <a:noFill/>
          </a:ln>
        </p:spPr>
      </p:sp>
      <p:sp>
        <p:nvSpPr>
          <p:cNvPr id="52" name="Direction heading">
            <a:extLst xmlns:a="http://schemas.openxmlformats.org/drawingml/2006/main">
              <a:ext uri="{FF2B5EF4-FFF2-40B4-BE49-F238E27FC236}">
                <a16:creationId xmlns:a16="http://schemas.microsoft.com/office/drawing/2014/main" id="{6427ABF2-8C98-4F9A-B1BE-DC0689E3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720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보도된 화재 확산 방향</a:t>
            </a:r>
          </a:p>
        </p:txBody>
      </p:sp>
      <p:sp>
        <p:nvSpPr>
          <p:cNvPr id="53" name="Initial west direction">
            <a:extLst xmlns:a="http://schemas.openxmlformats.org/drawingml/2006/main">
              <a:ext uri="{FF2B5EF4-FFF2-40B4-BE49-F238E27FC236}">
                <a16:creationId xmlns:a16="http://schemas.microsoft.com/office/drawing/2014/main" id="{D9B8AEFE-EB45-4269-99F3-7C8359C9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70485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B515"/>
          </a:solidFill>
          <a:ln xmlns:a="http://schemas.openxmlformats.org/drawingml/2006/main" w="0">
            <a:noFill/>
          </a:ln>
        </p:spPr>
      </p:sp>
      <p:sp>
        <p:nvSpPr>
          <p:cNvPr id="54" name="Changed south direction">
            <a:extLst xmlns:a="http://schemas.openxmlformats.org/drawingml/2006/main">
              <a:ext uri="{FF2B5EF4-FFF2-40B4-BE49-F238E27FC236}">
                <a16:creationId xmlns:a16="http://schemas.microsoft.com/office/drawing/2014/main" id="{6120686E-3298-4621-8756-DBBE3C48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95875"/>
            <a:ext cx="209550" cy="4667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B515"/>
          </a:solidFill>
          <a:ln xmlns:a="http://schemas.openxmlformats.org/drawingml/2006/main" w="0">
            <a:noFill/>
          </a:ln>
        </p:spPr>
      </p:sp>
      <p:sp>
        <p:nvSpPr>
          <p:cNvPr id="55" name="West label">
            <a:extLst xmlns:a="http://schemas.openxmlformats.org/drawingml/2006/main">
              <a:ext uri="{FF2B5EF4-FFF2-40B4-BE49-F238E27FC236}">
                <a16:creationId xmlns:a16="http://schemas.microsoft.com/office/drawing/2014/main" id="{62A24FC1-7D21-4EE0-9DA4-30324C44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863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CD6E1"/>
                </a:solidFill>
                <a:latin typeface="Arial"/>
                <a:ea typeface="Arial"/>
                <a:cs typeface="Arial"/>
              </a:rPr>
              <a:t>초기 서쪽</a:t>
            </a:r>
          </a:p>
        </p:txBody>
      </p:sp>
      <p:sp>
        <p:nvSpPr>
          <p:cNvPr id="56" name="South label">
            <a:extLst xmlns:a="http://schemas.openxmlformats.org/drawingml/2006/main">
              <a:ext uri="{FF2B5EF4-FFF2-40B4-BE49-F238E27FC236}">
                <a16:creationId xmlns:a16="http://schemas.microsoft.com/office/drawing/2014/main" id="{5383EEAB-3047-475C-A4EC-C0532933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2673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CD6E1"/>
                </a:solidFill>
                <a:latin typeface="Arial"/>
                <a:ea typeface="Arial"/>
                <a:cs typeface="Arial"/>
              </a:rPr>
              <a:t>이후 남쪽</a:t>
            </a:r>
          </a:p>
        </p:txBody>
      </p:sp>
      <p:sp>
        <p:nvSpPr>
          <p:cNvPr id="57" name="Direction evidence qualifier">
            <a:extLst xmlns:a="http://schemas.openxmlformats.org/drawingml/2006/main">
              <a:ext uri="{FF2B5EF4-FFF2-40B4-BE49-F238E27FC236}">
                <a16:creationId xmlns:a16="http://schemas.microsoft.com/office/drawing/2014/main" id="{22F75CD5-C0B4-484A-A6CE-8727404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95950"/>
            <a:ext cx="3848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CD6E1"/>
                </a:solidFill>
                <a:latin typeface="Arial"/>
                <a:ea typeface="Arial"/>
                <a:cs typeface="Arial"/>
              </a:rPr>
              <a:t>10.27 소방 브리핑 인용 보도</a:t>
            </a:r>
          </a:p>
          <a:p xmlns:a="http://schemas.openxmlformats.org/drawingml/2006/main">
            <a: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CD6E1"/>
                </a:solidFill>
                <a:latin typeface="Arial"/>
                <a:ea typeface="Arial"/>
                <a:cs typeface="Arial"/>
              </a:rPr>
              <a:t>방향 개요이며 실제 화선 아님</a:t>
            </a:r>
          </a:p>
        </p:txBody>
      </p:sp>
      <p:sp>
        <p:nvSpPr>
          <p:cNvPr id="58" name="Visible case limitation">
            <a:extLst xmlns:a="http://schemas.openxmlformats.org/drawingml/2006/main">
              <a:ext uri="{FF2B5EF4-FFF2-40B4-BE49-F238E27FC236}">
                <a16:creationId xmlns:a16="http://schemas.microsoft.com/office/drawing/2014/main" id="{33F2A9D6-F256-4689-9B8E-8A01748E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CD6E1"/>
                </a:solidFill>
                <a:latin typeface="Arial"/>
                <a:ea typeface="Arial"/>
                <a:cs typeface="Arial"/>
              </a:rPr>
              <a:t>구룡마을은 가건물 밀집 화재 사례입니다. 산불 MVP의 문제 제기를 위한 도입으로 활용합니다.</a:t>
            </a:r>
          </a:p>
        </p:txBody>
      </p:sp>
      <p:sp>
        <p:nvSpPr>
          <p:cNvPr id="59" name="Visible sources">
            <a:extLst xmlns:a="http://schemas.openxmlformats.org/drawingml/2006/main">
              <a:ext uri="{FF2B5EF4-FFF2-40B4-BE49-F238E27FC236}">
                <a16:creationId xmlns:a16="http://schemas.microsoft.com/office/drawing/2014/main" id="{165A9B68-D7D0-4239-95F4-A2DBA5C5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CD6E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CD6E1"/>
                </a:solidFill>
                <a:latin typeface="Arial"/>
                <a:ea typeface="Arial"/>
                <a:cs typeface="Arial"/>
              </a:rPr>
              <a:t>출처: 이노베이션아카데미 · 강남구청 · 아이뉴스24(2026.10.27) / 상세 링크는 발표자 노트</a:t>
            </a:r>
          </a:p>
        </p:txBody>
      </p:sp>
    </p:spTree>
    <p:extLst>
      <p:ext uri="{BB962C8B-B14F-4D97-AF65-F5344CB8AC3E}">
        <p14:creationId xmlns:p14="http://schemas.microsoft.com/office/powerpoint/2010/main" val="783686355"/>
      </p:ext>
    </p:extLst>
  </p:cSld>
</p:sld>
</file>

<file path=ppt/theme/theme1.xml><?xml version="1.0" encoding="utf-8"?>
<a:theme xmlns:a="http://schemas.openxmlformats.org/drawingml/2006/main" name="ChatGPT">
  <a:themeElements>
    <a:clrScheme name="CODYSSEY Navy Yellow">
      <a:dk1>
        <a:srgbClr val="202020"/>
      </a:dk1>
      <a:lt1>
        <a:srgbClr val="FFFFFF"/>
      </a:lt1>
      <a:dk2>
        <a:srgbClr val="062F5B"/>
      </a:dk2>
      <a:lt2>
        <a:srgbClr val="F7F6F2"/>
      </a:lt2>
      <a:accent1>
        <a:srgbClr val="062F5B"/>
      </a:accent1>
      <a:accent2>
        <a:srgbClr val="FFB515"/>
      </a:accent2>
      <a:accent3>
        <a:srgbClr val="65707C"/>
      </a:accent3>
      <a:accent4>
        <a:srgbClr val="EAEDEB"/>
      </a:accent4>
      <a:accent5>
        <a:srgbClr val="202020"/>
      </a:accent5>
      <a:accent6>
        <a:srgbClr val="CCD6E1"/>
      </a:accent6>
      <a:hlink>
        <a:srgbClr val="062F5B"/>
      </a:hlink>
      <a:folHlink>
        <a:srgbClr val="062F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YSSEY Navy Yel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2026-10-31T12:52:03.2800000Z</dcterms:created>
  <dcterms:modified xsi:type="dcterms:W3CDTF">2026-10-31T12:52:03.2800000Z</dcterms:modified>
</coreProperties>
</file>
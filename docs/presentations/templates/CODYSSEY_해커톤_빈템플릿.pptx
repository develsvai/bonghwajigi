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hx0rM0F2cNllkCiWlemN5qQrJ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738E33-45E3-4656-82C1-05467E921EFD}">
  <a:tblStyle styleId="{55738E33-45E3-4656-82C1-05467E921E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9" name="Google Shape;29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4" name="Google Shape;44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67" name="Google Shape;67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4" name="Google Shape;9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39" name="Google Shape;13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78" name="Google Shape;178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14" name="Google Shape;21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36" name="Google Shape;236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77" name="Google Shape;277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290" name="Google Shape;29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320" name="Google Shape;320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7147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71475" algn="l" rtl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">
  <p:cSld name="Title and Two Column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619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619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61950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61950" algn="l" rtl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One Column">
  <p:cSld name="Title and One Colum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7147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71475" algn="l" rtl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71475" algn="l" rtl="0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sz="22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F5B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"/>
          <p:cNvSpPr/>
          <p:nvPr/>
        </p:nvSpPr>
        <p:spPr>
          <a:xfrm>
            <a:off x="609600" y="400050"/>
            <a:ext cx="904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400"/>
              <a:buFont typeface="Arial"/>
              <a:buNone/>
            </a:pPr>
            <a:r>
              <a:rPr lang="en-US" sz="1400" b="1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10001250" y="381000"/>
            <a:ext cx="15811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B515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B515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09600" y="1809750"/>
            <a:ext cx="9525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D6E1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CD6E1"/>
                </a:solidFill>
                <a:latin typeface="Arial"/>
                <a:ea typeface="Arial"/>
                <a:cs typeface="Arial"/>
                <a:sym typeface="Arial"/>
              </a:rPr>
              <a:t>[프로젝트 분야 또는 핵심 키워드]</a:t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09600" y="2314575"/>
            <a:ext cx="109728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B515"/>
              </a:buClr>
              <a:buSzPts val="6800"/>
              <a:buFont typeface="Arial"/>
              <a:buNone/>
            </a:pPr>
            <a:r>
              <a:rPr lang="en-US" sz="6800" b="1">
                <a:solidFill>
                  <a:srgbClr val="FFB515"/>
                </a:solidFill>
                <a:latin typeface="Arial"/>
                <a:ea typeface="Arial"/>
                <a:cs typeface="Arial"/>
                <a:sym typeface="Arial"/>
              </a:rPr>
              <a:t>[프로젝트명]</a:t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09600" y="3695700"/>
            <a:ext cx="914400" cy="47625"/>
          </a:xfrm>
          <a:prstGeom prst="rect">
            <a:avLst/>
          </a:prstGeom>
          <a:solidFill>
            <a:srgbClr val="FFB5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09600" y="4010025"/>
            <a:ext cx="1019175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400"/>
              <a:buFont typeface="Arial"/>
              <a:buNone/>
            </a:pPr>
            <a:r>
              <a:rPr lang="en-US" sz="2400" b="0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[서비스가 제공하는 핵심 가치 한 문장]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609600" y="5543550"/>
            <a:ext cx="10972800" cy="9525"/>
          </a:xfrm>
          <a:prstGeom prst="rect">
            <a:avLst/>
          </a:prstGeom>
          <a:solidFill>
            <a:srgbClr val="4767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609600" y="6006725"/>
            <a:ext cx="4854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1900"/>
              <a:buFont typeface="Arial"/>
              <a:buNone/>
            </a:pPr>
            <a:r>
              <a:rPr lang="en-US" sz="2400" b="1">
                <a:solidFill>
                  <a:srgbClr val="FFB515"/>
                </a:solidFill>
                <a:latin typeface="Courier New"/>
                <a:ea typeface="Courier New"/>
                <a:cs typeface="Courier New"/>
                <a:sym typeface="Courier New"/>
              </a:rPr>
              <a:t>print("Hello, world!")</a:t>
            </a:r>
            <a:endParaRPr sz="2100">
              <a:solidFill>
                <a:srgbClr val="FFB515"/>
              </a:solidFill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595801" y="5661442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Font typeface="Arial"/>
              <a:buNone/>
            </a:pPr>
            <a:r>
              <a:rPr lang="en-US" sz="2000" b="1">
                <a:solidFill>
                  <a:srgbClr val="FFB515"/>
                </a:solidFill>
                <a:latin typeface="Courier New"/>
                <a:ea typeface="Courier New"/>
                <a:cs typeface="Courier New"/>
                <a:sym typeface="Courier New"/>
              </a:rPr>
              <a:t>team = [“허연진”, “김현래”, “강소연”]</a:t>
            </a:r>
            <a:endParaRPr sz="1300">
              <a:solidFill>
                <a:srgbClr val="FFB515"/>
              </a:solidFill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665650" y="6083179"/>
            <a:ext cx="2916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B515"/>
              </a:buClr>
              <a:buSzPts val="2200"/>
              <a:buFont typeface="Arial"/>
              <a:buNone/>
            </a:pPr>
            <a:r>
              <a:rPr lang="en-US" sz="2200" b="1">
                <a:solidFill>
                  <a:srgbClr val="FFB515"/>
                </a:solidFill>
                <a:latin typeface="Arial"/>
                <a:ea typeface="Arial"/>
                <a:cs typeface="Arial"/>
                <a:sym typeface="Arial"/>
              </a:rPr>
              <a:t>2026.10.30</a:t>
            </a:r>
            <a:r>
              <a:rPr lang="en-US"/>
              <a:t> </a:t>
            </a:r>
            <a:r>
              <a:rPr lang="en-US" sz="2200" b="1">
                <a:solidFill>
                  <a:srgbClr val="FFB515"/>
                </a:solidFill>
                <a:latin typeface="Arial"/>
                <a:ea typeface="Arial"/>
                <a:cs typeface="Arial"/>
                <a:sym typeface="Arial"/>
              </a:rPr>
              <a:t>– 11.02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01 / PROBLEM &amp; USERS</a:t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09600" y="895350"/>
            <a:ext cx="5486400" cy="624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600"/>
              <a:buFont typeface="Arial"/>
              <a:buNone/>
            </a:pPr>
            <a:r>
              <a:rPr lang="en-US" sz="36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문제</a:t>
            </a:r>
            <a:r>
              <a:rPr lang="en-US" sz="36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정의</a:t>
            </a:r>
            <a:r>
              <a:rPr lang="en-US" sz="36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dirty="0"/>
              <a:t> </a:t>
            </a:r>
            <a:r>
              <a:rPr lang="en-US" sz="36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목표</a:t>
            </a:r>
            <a:r>
              <a:rPr lang="en-US" sz="36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사용자</a:t>
            </a:r>
            <a:endParaRPr dirty="0"/>
          </a:p>
        </p:txBody>
      </p:sp>
      <p:sp>
        <p:nvSpPr>
          <p:cNvPr id="51" name="Google Shape;51;p2"/>
          <p:cNvSpPr/>
          <p:nvPr/>
        </p:nvSpPr>
        <p:spPr>
          <a:xfrm>
            <a:off x="5829300" y="2331948"/>
            <a:ext cx="9600" cy="185610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" name="Google Shape;52;p2"/>
          <p:cNvGrpSpPr/>
          <p:nvPr/>
        </p:nvGrpSpPr>
        <p:grpSpPr>
          <a:xfrm>
            <a:off x="609600" y="2307450"/>
            <a:ext cx="5238975" cy="1375163"/>
            <a:chOff x="609600" y="2307450"/>
            <a:chExt cx="5238975" cy="1375163"/>
          </a:xfrm>
        </p:grpSpPr>
        <p:sp>
          <p:nvSpPr>
            <p:cNvPr id="53" name="Google Shape;53;p2"/>
            <p:cNvSpPr/>
            <p:nvPr/>
          </p:nvSpPr>
          <p:spPr>
            <a:xfrm>
              <a:off x="609600" y="2625413"/>
              <a:ext cx="4762500" cy="10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800"/>
                <a:buFont typeface="Arial"/>
                <a:buNone/>
              </a:pPr>
              <a:r>
                <a:rPr lang="en-US" sz="18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[문제가 발생하는 배경·상황]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800"/>
                <a:buFont typeface="Arial"/>
                <a:buNone/>
              </a:pPr>
              <a:r>
                <a:rPr lang="en-US" sz="18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[해결되지 않을 때의 불편·손실]</a:t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609675" y="2307450"/>
              <a:ext cx="52389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핵심 문제</a:t>
              </a:r>
              <a:endParaRPr/>
            </a:p>
          </p:txBody>
        </p:sp>
      </p:grpSp>
      <p:sp>
        <p:nvSpPr>
          <p:cNvPr id="55" name="Google Shape;55;p2"/>
          <p:cNvSpPr/>
          <p:nvPr/>
        </p:nvSpPr>
        <p:spPr>
          <a:xfrm>
            <a:off x="609600" y="1520100"/>
            <a:ext cx="5855746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2800"/>
              <a:buFont typeface="Arial"/>
              <a:buNone/>
            </a:pP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누가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어떤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상황에서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어떤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문제를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겪는가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500" dirty="0"/>
          </a:p>
        </p:txBody>
      </p:sp>
      <p:grpSp>
        <p:nvGrpSpPr>
          <p:cNvPr id="56" name="Google Shape;56;p2"/>
          <p:cNvGrpSpPr/>
          <p:nvPr/>
        </p:nvGrpSpPr>
        <p:grpSpPr>
          <a:xfrm>
            <a:off x="6343650" y="2109082"/>
            <a:ext cx="5238750" cy="1190625"/>
            <a:chOff x="6343650" y="2952750"/>
            <a:chExt cx="5238750" cy="1190625"/>
          </a:xfrm>
        </p:grpSpPr>
        <p:sp>
          <p:nvSpPr>
            <p:cNvPr id="57" name="Google Shape;57;p2"/>
            <p:cNvSpPr/>
            <p:nvPr/>
          </p:nvSpPr>
          <p:spPr>
            <a:xfrm>
              <a:off x="6343650" y="2952750"/>
              <a:ext cx="685800" cy="47625"/>
            </a:xfrm>
            <a:prstGeom prst="rect">
              <a:avLst/>
            </a:prstGeom>
            <a:solidFill>
              <a:srgbClr val="FFB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6343650" y="3171825"/>
              <a:ext cx="52387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200"/>
                <a:buFont typeface="Arial"/>
                <a:buNone/>
              </a:pPr>
              <a:r>
                <a:rPr lang="en-US" sz="2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목표 사용자</a:t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343650" y="3686175"/>
              <a:ext cx="52387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[목표 사용자 집단·사용 상황·특성]</a:t>
              </a:r>
              <a:endParaRPr/>
            </a:p>
          </p:txBody>
        </p:sp>
      </p:grpSp>
      <p:sp>
        <p:nvSpPr>
          <p:cNvPr id="60" name="Google Shape;60;p2"/>
          <p:cNvSpPr/>
          <p:nvPr/>
        </p:nvSpPr>
        <p:spPr>
          <a:xfrm>
            <a:off x="609600" y="4533900"/>
            <a:ext cx="10972800" cy="1314450"/>
          </a:xfrm>
          <a:prstGeom prst="rect">
            <a:avLst/>
          </a:prstGeom>
          <a:solidFill>
            <a:srgbClr val="EAED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838200" y="4733925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문제를 뒷받침하는 근거</a:t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838200" y="5162550"/>
            <a:ext cx="1051560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2200"/>
              <a:buFont typeface="Arial"/>
              <a:buNone/>
            </a:pPr>
            <a:r>
              <a:rPr lang="en-US" sz="22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[활용 가능한 근거 자료·상황·사례]</a:t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09600" y="6067425"/>
            <a:ext cx="107632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출처: [기관·자료명·기준 시점 또는 조사·측정 조건]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02 / SOLUTION &amp; SERVICE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09599" y="866775"/>
            <a:ext cx="4848773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400"/>
              <a:buFont typeface="Arial"/>
              <a:buNone/>
            </a:pP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r>
              <a:rPr lang="en-US" sz="34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방안</a:t>
            </a:r>
            <a:r>
              <a:rPr lang="en-US" sz="34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dirty="0"/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서비스</a:t>
            </a:r>
            <a:r>
              <a:rPr lang="en-US" sz="34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개요</a:t>
            </a:r>
            <a:endParaRPr dirty="0"/>
          </a:p>
        </p:txBody>
      </p:sp>
      <p:sp>
        <p:nvSpPr>
          <p:cNvPr id="74" name="Google Shape;74;p3"/>
          <p:cNvSpPr/>
          <p:nvPr/>
        </p:nvSpPr>
        <p:spPr>
          <a:xfrm>
            <a:off x="605600" y="1428764"/>
            <a:ext cx="3675944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2800"/>
              <a:buFont typeface="Arial"/>
              <a:buNone/>
            </a:pP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핵심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해결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방안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한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문장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500" dirty="0"/>
          </a:p>
        </p:txBody>
      </p:sp>
      <p:grpSp>
        <p:nvGrpSpPr>
          <p:cNvPr id="75" name="Google Shape;75;p3"/>
          <p:cNvGrpSpPr/>
          <p:nvPr/>
        </p:nvGrpSpPr>
        <p:grpSpPr>
          <a:xfrm>
            <a:off x="857975" y="2709134"/>
            <a:ext cx="2609850" cy="2028825"/>
            <a:chOff x="609600" y="2819400"/>
            <a:chExt cx="2609850" cy="2028825"/>
          </a:xfrm>
        </p:grpSpPr>
        <p:sp>
          <p:nvSpPr>
            <p:cNvPr id="76" name="Google Shape;76;p3"/>
            <p:cNvSpPr/>
            <p:nvPr/>
          </p:nvSpPr>
          <p:spPr>
            <a:xfrm>
              <a:off x="609600" y="2819400"/>
              <a:ext cx="14287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609600" y="3219450"/>
              <a:ext cx="260985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100"/>
                <a:buFont typeface="Arial"/>
                <a:buNone/>
              </a:pPr>
              <a:r>
                <a:rPr lang="en-US" sz="21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기존 문제 상황</a:t>
              </a: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609600" y="3800475"/>
              <a:ext cx="26098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[현재 사용자의 불편]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[현재 대응의 어려움]</a:t>
              </a:r>
              <a:endParaRPr/>
            </a:p>
          </p:txBody>
        </p:sp>
      </p:grpSp>
      <p:grpSp>
        <p:nvGrpSpPr>
          <p:cNvPr id="79" name="Google Shape;79;p3"/>
          <p:cNvGrpSpPr/>
          <p:nvPr/>
        </p:nvGrpSpPr>
        <p:grpSpPr>
          <a:xfrm>
            <a:off x="3781973" y="2399572"/>
            <a:ext cx="4495800" cy="2647950"/>
            <a:chOff x="3524250" y="2647950"/>
            <a:chExt cx="4495800" cy="2647950"/>
          </a:xfrm>
        </p:grpSpPr>
        <p:sp>
          <p:nvSpPr>
            <p:cNvPr id="80" name="Google Shape;80;p3"/>
            <p:cNvSpPr/>
            <p:nvPr/>
          </p:nvSpPr>
          <p:spPr>
            <a:xfrm>
              <a:off x="3524250" y="2647950"/>
              <a:ext cx="4495800" cy="2647950"/>
            </a:xfrm>
            <a:prstGeom prst="rect">
              <a:avLst/>
            </a:prstGeom>
            <a:solidFill>
              <a:srgbClr val="FFB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3771900" y="2819400"/>
              <a:ext cx="14287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3771900" y="3219450"/>
              <a:ext cx="4000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300"/>
                <a:buFont typeface="Arial"/>
                <a:buNone/>
              </a:pPr>
              <a:r>
                <a:rPr lang="en-US" sz="23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제안하는 해결 방안</a:t>
              </a:r>
              <a:endParaRPr/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3771900" y="3857625"/>
              <a:ext cx="400050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800"/>
                <a:buFont typeface="Arial"/>
                <a:buNone/>
              </a:pPr>
              <a:r>
                <a:rPr lang="en-US" sz="1800" b="0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[서비스의 문제 해결 방법]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800"/>
                <a:buFont typeface="Arial"/>
                <a:buNone/>
              </a:pPr>
              <a:r>
                <a:rPr lang="en-US" sz="1800" b="0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[확인된 기존 방식과의 차이]</a:t>
              </a:r>
              <a:endParaRPr/>
            </a:p>
          </p:txBody>
        </p:sp>
      </p:grpSp>
      <p:grpSp>
        <p:nvGrpSpPr>
          <p:cNvPr id="84" name="Google Shape;84;p3"/>
          <p:cNvGrpSpPr/>
          <p:nvPr/>
        </p:nvGrpSpPr>
        <p:grpSpPr>
          <a:xfrm>
            <a:off x="8591921" y="2709134"/>
            <a:ext cx="3114675" cy="2028825"/>
            <a:chOff x="8467725" y="2819400"/>
            <a:chExt cx="3114675" cy="2028825"/>
          </a:xfrm>
        </p:grpSpPr>
        <p:sp>
          <p:nvSpPr>
            <p:cNvPr id="85" name="Google Shape;85;p3"/>
            <p:cNvSpPr/>
            <p:nvPr/>
          </p:nvSpPr>
          <p:spPr>
            <a:xfrm>
              <a:off x="8467725" y="2819400"/>
              <a:ext cx="14287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8467725" y="3219450"/>
              <a:ext cx="3114675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100"/>
                <a:buFont typeface="Arial"/>
                <a:buNone/>
              </a:pPr>
              <a:r>
                <a:rPr lang="en-US" sz="21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사용자 가치</a:t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8467725" y="3800475"/>
              <a:ext cx="311467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[이용 후 달라지는 점]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[사용자가 얻는 이점]</a:t>
              </a:r>
              <a:endParaRPr/>
            </a:p>
          </p:txBody>
        </p:sp>
      </p:grpSp>
      <p:sp>
        <p:nvSpPr>
          <p:cNvPr id="88" name="Google Shape;88;p3"/>
          <p:cNvSpPr/>
          <p:nvPr/>
        </p:nvSpPr>
        <p:spPr>
          <a:xfrm>
            <a:off x="609600" y="56578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09600" y="5829300"/>
            <a:ext cx="1333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서비스 소개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2200275" y="5800725"/>
            <a:ext cx="93821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900"/>
              <a:buFont typeface="Arial"/>
              <a:buNone/>
            </a:pPr>
            <a:r>
              <a:rPr lang="en-US" sz="1900" b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[서비스명]  —  [서비스를 한 문장으로 소개]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03 / KEY FEATURES &amp; USER FLOW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09600" y="857250"/>
            <a:ext cx="109728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주요 기능 및 사용자 이용 흐름</a:t>
            </a:r>
            <a:endParaRPr/>
          </a:p>
        </p:txBody>
      </p:sp>
      <p:grpSp>
        <p:nvGrpSpPr>
          <p:cNvPr id="101" name="Google Shape;101;p4"/>
          <p:cNvGrpSpPr/>
          <p:nvPr/>
        </p:nvGrpSpPr>
        <p:grpSpPr>
          <a:xfrm>
            <a:off x="609600" y="1743075"/>
            <a:ext cx="3505200" cy="3381375"/>
            <a:chOff x="609600" y="1743075"/>
            <a:chExt cx="3505200" cy="3381375"/>
          </a:xfrm>
        </p:grpSpPr>
        <p:sp>
          <p:nvSpPr>
            <p:cNvPr id="102" name="Google Shape;102;p4"/>
            <p:cNvSpPr/>
            <p:nvPr/>
          </p:nvSpPr>
          <p:spPr>
            <a:xfrm>
              <a:off x="609600" y="1743075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FEATURE 01</a:t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609600" y="2076450"/>
              <a:ext cx="3505200" cy="409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300"/>
                <a:buFont typeface="Arial"/>
                <a:buNone/>
              </a:pPr>
              <a:r>
                <a:rPr lang="en-US" sz="23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[기능명 1]</a:t>
              </a: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609600" y="2638425"/>
              <a:ext cx="3505200" cy="1543050"/>
            </a:xfrm>
            <a:prstGeom prst="rect">
              <a:avLst/>
            </a:prstGeom>
            <a:noFill/>
            <a:ln w="9525" cap="flat" cmpd="sng">
              <a:solidFill>
                <a:srgbClr val="CCD3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800100" y="3276600"/>
              <a:ext cx="3124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[실제 서비스 화면]</a:t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609600" y="4400550"/>
              <a:ext cx="35052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[기능의 주요 동작]</a:t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09600" y="4791075"/>
              <a:ext cx="35052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[사용자가 얻는 결과]</a:t>
              </a:r>
              <a:endParaRPr/>
            </a:p>
          </p:txBody>
        </p:sp>
      </p:grpSp>
      <p:grpSp>
        <p:nvGrpSpPr>
          <p:cNvPr id="108" name="Google Shape;108;p4"/>
          <p:cNvGrpSpPr/>
          <p:nvPr/>
        </p:nvGrpSpPr>
        <p:grpSpPr>
          <a:xfrm>
            <a:off x="4343400" y="1743075"/>
            <a:ext cx="3505200" cy="3381375"/>
            <a:chOff x="4343400" y="1743075"/>
            <a:chExt cx="3505200" cy="3381375"/>
          </a:xfrm>
        </p:grpSpPr>
        <p:sp>
          <p:nvSpPr>
            <p:cNvPr id="109" name="Google Shape;109;p4"/>
            <p:cNvSpPr/>
            <p:nvPr/>
          </p:nvSpPr>
          <p:spPr>
            <a:xfrm>
              <a:off x="4343400" y="1743075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FEATURE 02</a:t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4343400" y="2076450"/>
              <a:ext cx="3505200" cy="409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300"/>
                <a:buFont typeface="Arial"/>
                <a:buNone/>
              </a:pPr>
              <a:r>
                <a:rPr lang="en-US" sz="23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[기능명 2]</a:t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4343400" y="2638425"/>
              <a:ext cx="3505200" cy="1543050"/>
            </a:xfrm>
            <a:prstGeom prst="rect">
              <a:avLst/>
            </a:prstGeom>
            <a:noFill/>
            <a:ln w="9525" cap="flat" cmpd="sng">
              <a:solidFill>
                <a:srgbClr val="CCD3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4533900" y="3276600"/>
              <a:ext cx="3124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[실제 서비스 화면]</a:t>
              </a: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4343400" y="4400550"/>
              <a:ext cx="35052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[기능의 주요 동작]</a:t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4343400" y="4791075"/>
              <a:ext cx="35052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[사용자가 얻는 결과]</a:t>
              </a:r>
              <a:endParaRPr/>
            </a:p>
          </p:txBody>
        </p:sp>
      </p:grpSp>
      <p:grpSp>
        <p:nvGrpSpPr>
          <p:cNvPr id="115" name="Google Shape;115;p4"/>
          <p:cNvGrpSpPr/>
          <p:nvPr/>
        </p:nvGrpSpPr>
        <p:grpSpPr>
          <a:xfrm>
            <a:off x="8077200" y="1743075"/>
            <a:ext cx="3505200" cy="3381375"/>
            <a:chOff x="8077200" y="1743075"/>
            <a:chExt cx="3505200" cy="3381375"/>
          </a:xfrm>
        </p:grpSpPr>
        <p:sp>
          <p:nvSpPr>
            <p:cNvPr id="116" name="Google Shape;116;p4"/>
            <p:cNvSpPr/>
            <p:nvPr/>
          </p:nvSpPr>
          <p:spPr>
            <a:xfrm>
              <a:off x="8077200" y="1743075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FEATURE 03</a:t>
              </a:r>
              <a:endParaRPr/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8077200" y="2076450"/>
              <a:ext cx="3505200" cy="409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300"/>
                <a:buFont typeface="Arial"/>
                <a:buNone/>
              </a:pPr>
              <a:r>
                <a:rPr lang="en-US" sz="23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[기능명 3]</a:t>
              </a: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8077200" y="2638425"/>
              <a:ext cx="3505200" cy="1543050"/>
            </a:xfrm>
            <a:prstGeom prst="rect">
              <a:avLst/>
            </a:prstGeom>
            <a:noFill/>
            <a:ln w="9525" cap="flat" cmpd="sng">
              <a:solidFill>
                <a:srgbClr val="CCD3D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8267700" y="3276600"/>
              <a:ext cx="3124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[실제 서비스 화면]</a:t>
              </a: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8077200" y="4400550"/>
              <a:ext cx="35052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[기능의 주요 동작]</a:t>
              </a: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8077200" y="4791075"/>
              <a:ext cx="35052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[사용자가 얻는 결과]</a:t>
              </a:r>
              <a:endParaRPr/>
            </a:p>
          </p:txBody>
        </p:sp>
      </p:grpSp>
      <p:sp>
        <p:nvSpPr>
          <p:cNvPr id="122" name="Google Shape;122;p4"/>
          <p:cNvSpPr/>
          <p:nvPr/>
        </p:nvSpPr>
        <p:spPr>
          <a:xfrm>
            <a:off x="609600" y="5381625"/>
            <a:ext cx="335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" name="Google Shape;123;p4"/>
          <p:cNvGrpSpPr/>
          <p:nvPr/>
        </p:nvGrpSpPr>
        <p:grpSpPr>
          <a:xfrm>
            <a:off x="609600" y="5505450"/>
            <a:ext cx="3352800" cy="666750"/>
            <a:chOff x="609600" y="5505450"/>
            <a:chExt cx="3352800" cy="666750"/>
          </a:xfrm>
        </p:grpSpPr>
        <p:sp>
          <p:nvSpPr>
            <p:cNvPr id="124" name="Google Shape;124;p4"/>
            <p:cNvSpPr/>
            <p:nvPr/>
          </p:nvSpPr>
          <p:spPr>
            <a:xfrm>
              <a:off x="609600" y="5505450"/>
              <a:ext cx="33528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700"/>
                <a:buFont typeface="Arial"/>
                <a:buNone/>
              </a:pPr>
              <a:r>
                <a:rPr lang="en-US" sz="17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사용자 입력</a:t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09600" y="5838825"/>
              <a:ext cx="33528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[입력 행동]</a:t>
              </a:r>
              <a:endParaRPr/>
            </a:p>
          </p:txBody>
        </p:sp>
      </p:grpSp>
      <p:cxnSp>
        <p:nvCxnSpPr>
          <p:cNvPr id="126" name="Google Shape;126;p4"/>
          <p:cNvCxnSpPr/>
          <p:nvPr/>
        </p:nvCxnSpPr>
        <p:spPr>
          <a:xfrm>
            <a:off x="4076700" y="5762625"/>
            <a:ext cx="228600" cy="0"/>
          </a:xfrm>
          <a:prstGeom prst="straightConnector1">
            <a:avLst/>
          </a:prstGeom>
          <a:noFill/>
          <a:ln w="16175" cap="flat" cmpd="sng">
            <a:solidFill>
              <a:srgbClr val="062F5B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27" name="Google Shape;127;p4"/>
          <p:cNvSpPr/>
          <p:nvPr/>
        </p:nvSpPr>
        <p:spPr>
          <a:xfrm>
            <a:off x="4419600" y="5381625"/>
            <a:ext cx="335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" name="Google Shape;128;p4"/>
          <p:cNvGrpSpPr/>
          <p:nvPr/>
        </p:nvGrpSpPr>
        <p:grpSpPr>
          <a:xfrm>
            <a:off x="4419600" y="5505450"/>
            <a:ext cx="3352800" cy="666750"/>
            <a:chOff x="4419600" y="5505450"/>
            <a:chExt cx="3352800" cy="666750"/>
          </a:xfrm>
        </p:grpSpPr>
        <p:sp>
          <p:nvSpPr>
            <p:cNvPr id="129" name="Google Shape;129;p4"/>
            <p:cNvSpPr/>
            <p:nvPr/>
          </p:nvSpPr>
          <p:spPr>
            <a:xfrm>
              <a:off x="4419600" y="5505450"/>
              <a:ext cx="33528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700"/>
                <a:buFont typeface="Arial"/>
                <a:buNone/>
              </a:pPr>
              <a:r>
                <a:rPr lang="en-US" sz="17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서비스 처리</a:t>
              </a: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4419600" y="5838825"/>
              <a:ext cx="33528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[처리 과정]</a:t>
              </a:r>
              <a:endParaRPr/>
            </a:p>
          </p:txBody>
        </p:sp>
      </p:grpSp>
      <p:cxnSp>
        <p:nvCxnSpPr>
          <p:cNvPr id="131" name="Google Shape;131;p4"/>
          <p:cNvCxnSpPr/>
          <p:nvPr/>
        </p:nvCxnSpPr>
        <p:spPr>
          <a:xfrm>
            <a:off x="7886700" y="5762625"/>
            <a:ext cx="228600" cy="0"/>
          </a:xfrm>
          <a:prstGeom prst="straightConnector1">
            <a:avLst/>
          </a:prstGeom>
          <a:noFill/>
          <a:ln w="16175" cap="flat" cmpd="sng">
            <a:solidFill>
              <a:srgbClr val="062F5B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32" name="Google Shape;132;p4"/>
          <p:cNvSpPr/>
          <p:nvPr/>
        </p:nvSpPr>
        <p:spPr>
          <a:xfrm>
            <a:off x="8229600" y="5381625"/>
            <a:ext cx="335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4"/>
          <p:cNvGrpSpPr/>
          <p:nvPr/>
        </p:nvGrpSpPr>
        <p:grpSpPr>
          <a:xfrm>
            <a:off x="8229600" y="5505450"/>
            <a:ext cx="3352800" cy="666750"/>
            <a:chOff x="8229600" y="5505450"/>
            <a:chExt cx="3352800" cy="666750"/>
          </a:xfrm>
        </p:grpSpPr>
        <p:sp>
          <p:nvSpPr>
            <p:cNvPr id="134" name="Google Shape;134;p4"/>
            <p:cNvSpPr/>
            <p:nvPr/>
          </p:nvSpPr>
          <p:spPr>
            <a:xfrm>
              <a:off x="8229600" y="5505450"/>
              <a:ext cx="33528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700"/>
                <a:buFont typeface="Arial"/>
                <a:buNone/>
              </a:pPr>
              <a:r>
                <a:rPr lang="en-US" sz="17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결과 제공</a:t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8229600" y="5838825"/>
              <a:ext cx="3352800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[제공 결과]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04 / AI TECHNOLOGY &amp; APPLICATION</a:t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09600" y="85725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활용 AI 기술 및 적용 방식</a:t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09600" y="1447800"/>
            <a:ext cx="5486400" cy="4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2700"/>
              <a:buFont typeface="Arial"/>
              <a:buNone/>
            </a:pP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어떤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과정에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어떤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AI를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왜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사용하는가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500" dirty="0"/>
          </a:p>
        </p:txBody>
      </p:sp>
      <p:grpSp>
        <p:nvGrpSpPr>
          <p:cNvPr id="147" name="Google Shape;147;p5"/>
          <p:cNvGrpSpPr/>
          <p:nvPr/>
        </p:nvGrpSpPr>
        <p:grpSpPr>
          <a:xfrm>
            <a:off x="609600" y="2440604"/>
            <a:ext cx="10972800" cy="2238375"/>
            <a:chOff x="609600" y="2771775"/>
            <a:chExt cx="10972800" cy="2238375"/>
          </a:xfrm>
        </p:grpSpPr>
        <p:grpSp>
          <p:nvGrpSpPr>
            <p:cNvPr id="148" name="Google Shape;148;p5"/>
            <p:cNvGrpSpPr/>
            <p:nvPr/>
          </p:nvGrpSpPr>
          <p:grpSpPr>
            <a:xfrm>
              <a:off x="609600" y="2971800"/>
              <a:ext cx="2590800" cy="1838325"/>
              <a:chOff x="609600" y="2971800"/>
              <a:chExt cx="2590800" cy="1838325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609600" y="2971800"/>
                <a:ext cx="2590800" cy="1838325"/>
              </a:xfrm>
              <a:prstGeom prst="rect">
                <a:avLst/>
              </a:prstGeom>
              <a:noFill/>
              <a:ln w="9525" cap="flat" cmpd="sng">
                <a:solidFill>
                  <a:srgbClr val="CC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8200" y="3171825"/>
                <a:ext cx="219075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2F5B"/>
                  </a:buClr>
                  <a:buSzPts val="1200"/>
                  <a:buFont typeface="Arial"/>
                  <a:buNone/>
                </a:pPr>
                <a:r>
                  <a:rPr lang="en-US" sz="1200" b="1">
                    <a:solidFill>
                      <a:srgbClr val="062F5B"/>
                    </a:solidFill>
                    <a:latin typeface="Arial"/>
                    <a:ea typeface="Arial"/>
                    <a:cs typeface="Arial"/>
                    <a:sym typeface="Arial"/>
                  </a:rPr>
                  <a:t>01 / INPUT</a:t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838200" y="3552825"/>
                <a:ext cx="21907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2F5B"/>
                  </a:buClr>
                  <a:buSzPts val="2000"/>
                  <a:buFont typeface="Arial"/>
                  <a:buNone/>
                </a:pPr>
                <a:r>
                  <a:rPr lang="en-US" sz="2000" b="1">
                    <a:solidFill>
                      <a:srgbClr val="062F5B"/>
                    </a:solidFill>
                    <a:latin typeface="Arial"/>
                    <a:ea typeface="Arial"/>
                    <a:cs typeface="Arial"/>
                    <a:sym typeface="Arial"/>
                  </a:rPr>
                  <a:t>입력 데이터</a:t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838200" y="4057650"/>
                <a:ext cx="2190750" cy="523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5707C"/>
                  </a:buClr>
                  <a:buSzPts val="1600"/>
                  <a:buFont typeface="Arial"/>
                  <a:buNone/>
                </a:pPr>
                <a:r>
                  <a:rPr lang="en-US" sz="1600" b="0">
                    <a:solidFill>
                      <a:srgbClr val="65707C"/>
                    </a:solidFill>
                    <a:latin typeface="Arial"/>
                    <a:ea typeface="Arial"/>
                    <a:cs typeface="Arial"/>
                    <a:sym typeface="Arial"/>
                  </a:rPr>
                  <a:t>[데이터 종류·형식]</a:t>
                </a:r>
                <a:endParaRPr/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3657600" y="2771775"/>
              <a:ext cx="4876800" cy="2238375"/>
              <a:chOff x="3657600" y="2771775"/>
              <a:chExt cx="4876800" cy="2238375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3657600" y="2771775"/>
                <a:ext cx="4876800" cy="2238375"/>
              </a:xfrm>
              <a:prstGeom prst="rect">
                <a:avLst/>
              </a:prstGeom>
              <a:solidFill>
                <a:srgbClr val="062F5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3924300" y="3000375"/>
                <a:ext cx="41910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200"/>
                  <a:buFont typeface="Arial"/>
                  <a:buNone/>
                </a:pPr>
                <a:r>
                  <a:rPr lang="en-US" sz="1200" b="1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02 / PROCESS</a:t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924300" y="3290035"/>
                <a:ext cx="4191000" cy="40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515"/>
                  </a:buClr>
                  <a:buSzPts val="2500"/>
                  <a:buFont typeface="Arial"/>
                  <a:buNone/>
                </a:pPr>
                <a:r>
                  <a:rPr lang="en-US" sz="2500" b="1">
                    <a:solidFill>
                      <a:srgbClr val="FFB515"/>
                    </a:solidFill>
                    <a:latin typeface="Arial"/>
                    <a:ea typeface="Arial"/>
                    <a:cs typeface="Arial"/>
                    <a:sym typeface="Arial"/>
                  </a:rPr>
                  <a:t>AI 처리</a:t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910501" y="3787289"/>
                <a:ext cx="41910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7F6F2"/>
                  </a:buClr>
                  <a:buSzPts val="1800"/>
                  <a:buFont typeface="Arial"/>
                  <a:buNone/>
                </a:pPr>
                <a:r>
                  <a:rPr lang="en-US" sz="1700" b="0">
                    <a:solidFill>
                      <a:srgbClr val="F7F6F2"/>
                    </a:solidFill>
                    <a:latin typeface="Arial"/>
                    <a:ea typeface="Arial"/>
                    <a:cs typeface="Arial"/>
                    <a:sym typeface="Arial"/>
                  </a:rPr>
                  <a:t>[모델·알고리즘·API]</a:t>
                </a:r>
                <a:endParaRPr sz="1300"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3910501" y="4182652"/>
                <a:ext cx="4191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700"/>
                  <a:buFont typeface="Arial"/>
                  <a:buNone/>
                </a:pPr>
                <a:r>
                  <a:rPr lang="en-US" sz="1700" b="0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[수행 작업과 적용 방식]</a:t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910501" y="4558814"/>
                <a:ext cx="419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400"/>
                  <a:buFont typeface="Arial"/>
                  <a:buNone/>
                </a:pPr>
                <a:r>
                  <a:rPr lang="en-US" sz="1700" b="0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[실제 실행 방식]</a:t>
                </a:r>
                <a:endParaRPr sz="1700"/>
              </a:p>
            </p:txBody>
          </p:sp>
        </p:grpSp>
        <p:grpSp>
          <p:nvGrpSpPr>
            <p:cNvPr id="160" name="Google Shape;160;p5"/>
            <p:cNvGrpSpPr/>
            <p:nvPr/>
          </p:nvGrpSpPr>
          <p:grpSpPr>
            <a:xfrm>
              <a:off x="8991600" y="2971800"/>
              <a:ext cx="2590800" cy="1838325"/>
              <a:chOff x="8991600" y="2971800"/>
              <a:chExt cx="2590800" cy="1838325"/>
            </a:xfrm>
          </p:grpSpPr>
          <p:sp>
            <p:nvSpPr>
              <p:cNvPr id="161" name="Google Shape;161;p5"/>
              <p:cNvSpPr/>
              <p:nvPr/>
            </p:nvSpPr>
            <p:spPr>
              <a:xfrm>
                <a:off x="8991600" y="2971800"/>
                <a:ext cx="2590800" cy="1838325"/>
              </a:xfrm>
              <a:prstGeom prst="rect">
                <a:avLst/>
              </a:prstGeom>
              <a:noFill/>
              <a:ln w="9525" cap="flat" cmpd="sng">
                <a:solidFill>
                  <a:srgbClr val="CCD3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9220200" y="3171825"/>
                <a:ext cx="2095500" cy="238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2F5B"/>
                  </a:buClr>
                  <a:buSzPts val="1200"/>
                  <a:buFont typeface="Arial"/>
                  <a:buNone/>
                </a:pPr>
                <a:r>
                  <a:rPr lang="en-US" sz="1200" b="1">
                    <a:solidFill>
                      <a:srgbClr val="062F5B"/>
                    </a:solidFill>
                    <a:latin typeface="Arial"/>
                    <a:ea typeface="Arial"/>
                    <a:cs typeface="Arial"/>
                    <a:sym typeface="Arial"/>
                  </a:rPr>
                  <a:t>03 / OUTPUT</a:t>
                </a: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9220200" y="3552825"/>
                <a:ext cx="209550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2F5B"/>
                  </a:buClr>
                  <a:buSzPts val="2000"/>
                  <a:buFont typeface="Arial"/>
                  <a:buNone/>
                </a:pPr>
                <a:r>
                  <a:rPr lang="en-US" sz="2000" b="1">
                    <a:solidFill>
                      <a:srgbClr val="062F5B"/>
                    </a:solidFill>
                    <a:latin typeface="Arial"/>
                    <a:ea typeface="Arial"/>
                    <a:cs typeface="Arial"/>
                    <a:sym typeface="Arial"/>
                  </a:rPr>
                  <a:t>결과 출력</a:t>
                </a: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9220200" y="4057650"/>
                <a:ext cx="2095500" cy="552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65707C"/>
                  </a:buClr>
                  <a:buSzPts val="1600"/>
                  <a:buFont typeface="Arial"/>
                  <a:buNone/>
                </a:pPr>
                <a:r>
                  <a:rPr lang="en-US" sz="1600" b="0">
                    <a:solidFill>
                      <a:srgbClr val="65707C"/>
                    </a:solidFill>
                    <a:latin typeface="Arial"/>
                    <a:ea typeface="Arial"/>
                    <a:cs typeface="Arial"/>
                    <a:sym typeface="Arial"/>
                  </a:rPr>
                  <a:t>[AI 결과·서비스 활용]</a:t>
                </a:r>
                <a:endParaRPr/>
              </a:p>
            </p:txBody>
          </p:sp>
        </p:grpSp>
        <p:cxnSp>
          <p:nvCxnSpPr>
            <p:cNvPr id="165" name="Google Shape;165;p5"/>
            <p:cNvCxnSpPr/>
            <p:nvPr/>
          </p:nvCxnSpPr>
          <p:spPr>
            <a:xfrm>
              <a:off x="3314700" y="3895725"/>
              <a:ext cx="228600" cy="0"/>
            </a:xfrm>
            <a:prstGeom prst="straightConnector1">
              <a:avLst/>
            </a:prstGeom>
            <a:noFill/>
            <a:ln w="16175" cap="flat" cmpd="sng">
              <a:solidFill>
                <a:srgbClr val="062F5B"/>
              </a:solidFill>
              <a:prstDash val="solid"/>
              <a:round/>
              <a:headEnd type="none" w="sm" len="sm"/>
              <a:tailEnd type="triangle" w="sm" len="sm"/>
            </a:ln>
          </p:spPr>
        </p:cxnSp>
        <p:cxnSp>
          <p:nvCxnSpPr>
            <p:cNvPr id="166" name="Google Shape;166;p5"/>
            <p:cNvCxnSpPr/>
            <p:nvPr/>
          </p:nvCxnSpPr>
          <p:spPr>
            <a:xfrm>
              <a:off x="8648700" y="3895725"/>
              <a:ext cx="228600" cy="0"/>
            </a:xfrm>
            <a:prstGeom prst="straightConnector1">
              <a:avLst/>
            </a:prstGeom>
            <a:noFill/>
            <a:ln w="16175" cap="flat" cmpd="sng">
              <a:solidFill>
                <a:srgbClr val="062F5B"/>
              </a:solidFill>
              <a:prstDash val="solid"/>
              <a:round/>
              <a:headEnd type="none" w="sm" len="sm"/>
              <a:tailEnd type="triangle" w="sm" len="sm"/>
            </a:ln>
          </p:spPr>
        </p:cxnSp>
      </p:grpSp>
      <p:sp>
        <p:nvSpPr>
          <p:cNvPr id="167" name="Google Shape;167;p5"/>
          <p:cNvSpPr/>
          <p:nvPr/>
        </p:nvSpPr>
        <p:spPr>
          <a:xfrm>
            <a:off x="609600" y="5353050"/>
            <a:ext cx="5257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5"/>
          <p:cNvGrpSpPr/>
          <p:nvPr/>
        </p:nvGrpSpPr>
        <p:grpSpPr>
          <a:xfrm>
            <a:off x="609600" y="5505450"/>
            <a:ext cx="5257800" cy="676275"/>
            <a:chOff x="609600" y="5505450"/>
            <a:chExt cx="5257800" cy="676275"/>
          </a:xfrm>
        </p:grpSpPr>
        <p:sp>
          <p:nvSpPr>
            <p:cNvPr id="169" name="Google Shape;169;p5"/>
            <p:cNvSpPr/>
            <p:nvPr/>
          </p:nvSpPr>
          <p:spPr>
            <a:xfrm>
              <a:off x="609600" y="5505450"/>
              <a:ext cx="525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900"/>
                <a:buFont typeface="Arial"/>
                <a:buNone/>
              </a:pPr>
              <a:r>
                <a:rPr lang="en-US" sz="19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활용 AI 기술</a:t>
              </a: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609600" y="5915025"/>
              <a:ext cx="5257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600"/>
                <a:buFont typeface="Arial"/>
                <a:buNone/>
              </a:pPr>
              <a:r>
                <a:rPr lang="en-US" sz="16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[기술명·버전과 주요 역할]</a:t>
              </a:r>
              <a:endParaRPr/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6324600" y="5353050"/>
            <a:ext cx="5257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" name="Google Shape;172;p5"/>
          <p:cNvGrpSpPr/>
          <p:nvPr/>
        </p:nvGrpSpPr>
        <p:grpSpPr>
          <a:xfrm>
            <a:off x="6324600" y="5505450"/>
            <a:ext cx="5257800" cy="676275"/>
            <a:chOff x="6324600" y="5505450"/>
            <a:chExt cx="5257800" cy="676275"/>
          </a:xfrm>
        </p:grpSpPr>
        <p:sp>
          <p:nvSpPr>
            <p:cNvPr id="173" name="Google Shape;173;p5"/>
            <p:cNvSpPr/>
            <p:nvPr/>
          </p:nvSpPr>
          <p:spPr>
            <a:xfrm>
              <a:off x="6324600" y="5505450"/>
              <a:ext cx="525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900"/>
                <a:buFont typeface="Arial"/>
                <a:buNone/>
              </a:pPr>
              <a:r>
                <a:rPr lang="en-US" sz="19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기술 선택 이유</a:t>
              </a:r>
              <a:endParaRPr/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6324600" y="5915025"/>
              <a:ext cx="52578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600"/>
                <a:buFont typeface="Arial"/>
                <a:buNone/>
              </a:pPr>
              <a:r>
                <a:rPr lang="en-US" sz="16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[문제 해결과 연결되는 선택 근거]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05 / IMPLEMENTATION &amp; VALIDATION</a:t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09600" y="85725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직접 개발 범위 및 구현 결과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609599" y="1447794"/>
            <a:ext cx="4285129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2800"/>
              <a:buFont typeface="Arial"/>
              <a:buNone/>
            </a:pP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팀이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직접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구현한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핵심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요소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500" dirty="0"/>
          </a:p>
        </p:txBody>
      </p:sp>
      <p:sp>
        <p:nvSpPr>
          <p:cNvPr id="186" name="Google Shape;186;p6"/>
          <p:cNvSpPr/>
          <p:nvPr/>
        </p:nvSpPr>
        <p:spPr>
          <a:xfrm>
            <a:off x="609600" y="2334852"/>
            <a:ext cx="4191000" cy="1920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609600" y="2553927"/>
            <a:ext cx="4191000" cy="1447800"/>
            <a:chOff x="609600" y="2857500"/>
            <a:chExt cx="4191000" cy="1447800"/>
          </a:xfrm>
        </p:grpSpPr>
        <p:sp>
          <p:nvSpPr>
            <p:cNvPr id="188" name="Google Shape;188;p6"/>
            <p:cNvSpPr/>
            <p:nvPr/>
          </p:nvSpPr>
          <p:spPr>
            <a:xfrm>
              <a:off x="609600" y="2857500"/>
              <a:ext cx="41910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100"/>
                <a:buFont typeface="Arial"/>
                <a:buNone/>
              </a:pPr>
              <a:r>
                <a:rPr lang="en-US" sz="21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외부 기술 활용 범위</a:t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09600" y="3400425"/>
              <a:ext cx="4191000" cy="904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[사용한 모델·API·라이브러리]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[외부 기술이 담당한 기능]</a:t>
              </a:r>
              <a:endParaRPr/>
            </a:p>
          </p:txBody>
        </p:sp>
      </p:grpSp>
      <p:sp>
        <p:nvSpPr>
          <p:cNvPr id="190" name="Google Shape;190;p6"/>
          <p:cNvSpPr/>
          <p:nvPr/>
        </p:nvSpPr>
        <p:spPr>
          <a:xfrm>
            <a:off x="5410200" y="2334852"/>
            <a:ext cx="6172200" cy="47700"/>
          </a:xfrm>
          <a:prstGeom prst="rect">
            <a:avLst/>
          </a:prstGeom>
          <a:solidFill>
            <a:srgbClr val="FFB51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" name="Google Shape;191;p6"/>
          <p:cNvGrpSpPr/>
          <p:nvPr/>
        </p:nvGrpSpPr>
        <p:grpSpPr>
          <a:xfrm>
            <a:off x="5410200" y="2553927"/>
            <a:ext cx="6172200" cy="1447800"/>
            <a:chOff x="5410200" y="2857500"/>
            <a:chExt cx="6172200" cy="1447800"/>
          </a:xfrm>
        </p:grpSpPr>
        <p:sp>
          <p:nvSpPr>
            <p:cNvPr id="192" name="Google Shape;192;p6"/>
            <p:cNvSpPr/>
            <p:nvPr/>
          </p:nvSpPr>
          <p:spPr>
            <a:xfrm>
              <a:off x="5410200" y="2857500"/>
              <a:ext cx="6172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300"/>
                <a:buFont typeface="Arial"/>
                <a:buNone/>
              </a:pPr>
              <a:r>
                <a:rPr lang="en-US" sz="23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팀 직접 개발 범위</a:t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5410200" y="3400425"/>
              <a:ext cx="6172200" cy="904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800"/>
                <a:buFont typeface="Arial"/>
                <a:buNone/>
              </a:pPr>
              <a:r>
                <a:rPr lang="en-US" sz="18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[직접 작성한 알고리즘·처리 로직]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800"/>
                <a:buFont typeface="Arial"/>
                <a:buNone/>
              </a:pPr>
              <a:r>
                <a:rPr lang="en-US" sz="18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[직접 개발한 기능·모듈과 기술적 기여]</a:t>
              </a:r>
              <a:endParaRPr/>
            </a:p>
          </p:txBody>
        </p:sp>
      </p:grpSp>
      <p:sp>
        <p:nvSpPr>
          <p:cNvPr id="194" name="Google Shape;194;p6"/>
          <p:cNvSpPr/>
          <p:nvPr/>
        </p:nvSpPr>
        <p:spPr>
          <a:xfrm>
            <a:off x="609600" y="4368314"/>
            <a:ext cx="3352800" cy="960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" name="Google Shape;195;p6"/>
          <p:cNvGrpSpPr/>
          <p:nvPr/>
        </p:nvGrpSpPr>
        <p:grpSpPr>
          <a:xfrm>
            <a:off x="609600" y="4492139"/>
            <a:ext cx="3352800" cy="666675"/>
            <a:chOff x="609600" y="4492139"/>
            <a:chExt cx="3352800" cy="666675"/>
          </a:xfrm>
        </p:grpSpPr>
        <p:sp>
          <p:nvSpPr>
            <p:cNvPr id="196" name="Google Shape;196;p6"/>
            <p:cNvSpPr/>
            <p:nvPr/>
          </p:nvSpPr>
          <p:spPr>
            <a:xfrm>
              <a:off x="609600" y="4492139"/>
              <a:ext cx="33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700"/>
                <a:buFont typeface="Arial"/>
                <a:buNone/>
              </a:pPr>
              <a:r>
                <a:rPr lang="en-US" sz="17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처리 시작</a:t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609600" y="4825514"/>
              <a:ext cx="3352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[처리 단계 1]</a:t>
              </a:r>
              <a:endParaRPr/>
            </a:p>
          </p:txBody>
        </p:sp>
      </p:grpSp>
      <p:cxnSp>
        <p:nvCxnSpPr>
          <p:cNvPr id="198" name="Google Shape;198;p6"/>
          <p:cNvCxnSpPr/>
          <p:nvPr/>
        </p:nvCxnSpPr>
        <p:spPr>
          <a:xfrm>
            <a:off x="4076700" y="4749314"/>
            <a:ext cx="228600" cy="0"/>
          </a:xfrm>
          <a:prstGeom prst="straightConnector1">
            <a:avLst/>
          </a:prstGeom>
          <a:noFill/>
          <a:ln w="16175" cap="flat" cmpd="sng">
            <a:solidFill>
              <a:srgbClr val="062F5B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199" name="Google Shape;199;p6"/>
          <p:cNvSpPr/>
          <p:nvPr/>
        </p:nvSpPr>
        <p:spPr>
          <a:xfrm>
            <a:off x="4419600" y="4368314"/>
            <a:ext cx="3352800" cy="960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0" name="Google Shape;200;p6"/>
          <p:cNvGrpSpPr/>
          <p:nvPr/>
        </p:nvGrpSpPr>
        <p:grpSpPr>
          <a:xfrm>
            <a:off x="4419600" y="4492139"/>
            <a:ext cx="3352800" cy="666675"/>
            <a:chOff x="4419600" y="4492139"/>
            <a:chExt cx="3352800" cy="666675"/>
          </a:xfrm>
        </p:grpSpPr>
        <p:sp>
          <p:nvSpPr>
            <p:cNvPr id="201" name="Google Shape;201;p6"/>
            <p:cNvSpPr/>
            <p:nvPr/>
          </p:nvSpPr>
          <p:spPr>
            <a:xfrm>
              <a:off x="4419600" y="4492139"/>
              <a:ext cx="33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700"/>
                <a:buFont typeface="Arial"/>
                <a:buNone/>
              </a:pPr>
              <a:r>
                <a:rPr lang="en-US" sz="17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직접 구현</a:t>
              </a:r>
              <a:endParaRPr/>
            </a:p>
          </p:txBody>
        </p:sp>
        <p:sp>
          <p:nvSpPr>
            <p:cNvPr id="202" name="Google Shape;202;p6"/>
            <p:cNvSpPr/>
            <p:nvPr/>
          </p:nvSpPr>
          <p:spPr>
            <a:xfrm>
              <a:off x="4419600" y="4825514"/>
              <a:ext cx="3352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[핵심 구현 단계]</a:t>
              </a:r>
              <a:endParaRPr/>
            </a:p>
          </p:txBody>
        </p:sp>
      </p:grpSp>
      <p:cxnSp>
        <p:nvCxnSpPr>
          <p:cNvPr id="203" name="Google Shape;203;p6"/>
          <p:cNvCxnSpPr/>
          <p:nvPr/>
        </p:nvCxnSpPr>
        <p:spPr>
          <a:xfrm>
            <a:off x="7886700" y="4749314"/>
            <a:ext cx="228600" cy="0"/>
          </a:xfrm>
          <a:prstGeom prst="straightConnector1">
            <a:avLst/>
          </a:prstGeom>
          <a:noFill/>
          <a:ln w="16175" cap="flat" cmpd="sng">
            <a:solidFill>
              <a:srgbClr val="062F5B"/>
            </a:solidFill>
            <a:prstDash val="solid"/>
            <a:round/>
            <a:headEnd type="none" w="sm" len="sm"/>
            <a:tailEnd type="triangle" w="sm" len="sm"/>
          </a:ln>
        </p:spPr>
      </p:cxnSp>
      <p:sp>
        <p:nvSpPr>
          <p:cNvPr id="204" name="Google Shape;204;p6"/>
          <p:cNvSpPr/>
          <p:nvPr/>
        </p:nvSpPr>
        <p:spPr>
          <a:xfrm>
            <a:off x="8229600" y="4368314"/>
            <a:ext cx="3352800" cy="9600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5" name="Google Shape;205;p6"/>
          <p:cNvGrpSpPr/>
          <p:nvPr/>
        </p:nvGrpSpPr>
        <p:grpSpPr>
          <a:xfrm>
            <a:off x="8229600" y="4492139"/>
            <a:ext cx="3352800" cy="666675"/>
            <a:chOff x="8229600" y="4492139"/>
            <a:chExt cx="3352800" cy="666675"/>
          </a:xfrm>
        </p:grpSpPr>
        <p:sp>
          <p:nvSpPr>
            <p:cNvPr id="206" name="Google Shape;206;p6"/>
            <p:cNvSpPr/>
            <p:nvPr/>
          </p:nvSpPr>
          <p:spPr>
            <a:xfrm>
              <a:off x="8229600" y="4492139"/>
              <a:ext cx="335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700"/>
                <a:buFont typeface="Arial"/>
                <a:buNone/>
              </a:pPr>
              <a:r>
                <a:rPr lang="en-US" sz="17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결과 생성</a:t>
              </a: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8229600" y="4825514"/>
              <a:ext cx="33528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500"/>
                <a:buFont typeface="Arial"/>
                <a:buNone/>
              </a:pPr>
              <a:r>
                <a:rPr lang="en-US" sz="15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[결과 생성 단계]</a:t>
              </a:r>
              <a:endParaRPr/>
            </a:p>
          </p:txBody>
        </p:sp>
      </p:grpSp>
      <p:sp>
        <p:nvSpPr>
          <p:cNvPr id="208" name="Google Shape;208;p6"/>
          <p:cNvSpPr/>
          <p:nvPr/>
        </p:nvSpPr>
        <p:spPr>
          <a:xfrm>
            <a:off x="609600" y="5610225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609600" y="579120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구현 및 검증 결과</a:t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3429000" y="5800725"/>
            <a:ext cx="81534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700"/>
              <a:buFont typeface="Arial"/>
              <a:buNone/>
            </a:pPr>
            <a:r>
              <a:rPr lang="en-US" sz="17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[실제 완료 기능·동작 결과·확인 가능한 근거]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06 / ENVIRONMENT &amp; TECH STACK</a:t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609600" y="85725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개발 환경 및 기술 스택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09599" y="1376126"/>
            <a:ext cx="5257799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2700"/>
              <a:buFont typeface="Arial"/>
              <a:buNone/>
            </a:pP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주요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기술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구성과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실행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환경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한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문장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500" dirty="0"/>
          </a:p>
        </p:txBody>
      </p:sp>
      <p:sp>
        <p:nvSpPr>
          <p:cNvPr id="222" name="Google Shape;222;p7"/>
          <p:cNvSpPr/>
          <p:nvPr/>
        </p:nvSpPr>
        <p:spPr>
          <a:xfrm>
            <a:off x="609600" y="2046418"/>
            <a:ext cx="95250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서비스 기술 아키텍처</a:t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09600" y="2427427"/>
            <a:ext cx="10972800" cy="2407800"/>
          </a:xfrm>
          <a:prstGeom prst="rect">
            <a:avLst/>
          </a:prstGeom>
          <a:noFill/>
          <a:ln w="9525" cap="flat" cmpd="sng">
            <a:solidFill>
              <a:srgbClr val="CCD3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800100" y="3260856"/>
            <a:ext cx="10591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500"/>
              <a:buFont typeface="Arial"/>
              <a:buNone/>
            </a:pPr>
            <a:r>
              <a:rPr lang="en-US" sz="15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[실제 시스템 구성도]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609600" y="5114925"/>
            <a:ext cx="5257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7"/>
          <p:cNvGrpSpPr/>
          <p:nvPr/>
        </p:nvGrpSpPr>
        <p:grpSpPr>
          <a:xfrm>
            <a:off x="609600" y="5267325"/>
            <a:ext cx="5257800" cy="962025"/>
            <a:chOff x="609600" y="5267325"/>
            <a:chExt cx="5257800" cy="962025"/>
          </a:xfrm>
        </p:grpSpPr>
        <p:sp>
          <p:nvSpPr>
            <p:cNvPr id="227" name="Google Shape;227;p7"/>
            <p:cNvSpPr/>
            <p:nvPr/>
          </p:nvSpPr>
          <p:spPr>
            <a:xfrm>
              <a:off x="609600" y="5267325"/>
              <a:ext cx="52578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100"/>
                <a:buFont typeface="Arial"/>
                <a:buNone/>
              </a:pPr>
              <a:r>
                <a:rPr lang="en-US" sz="21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개발 환경</a:t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609600" y="5676900"/>
              <a:ext cx="52578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600"/>
                <a:buFont typeface="Arial"/>
                <a:buNone/>
              </a:pPr>
              <a:r>
                <a:rPr lang="en-US" sz="16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[언어·버전]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600"/>
                <a:buFont typeface="Arial"/>
                <a:buNone/>
              </a:pPr>
              <a:r>
                <a:rPr lang="en-US" sz="16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[프레임워크·라이브러리·도구]</a:t>
              </a:r>
              <a:endParaRPr/>
            </a:p>
          </p:txBody>
        </p:sp>
      </p:grpSp>
      <p:sp>
        <p:nvSpPr>
          <p:cNvPr id="229" name="Google Shape;229;p7"/>
          <p:cNvSpPr/>
          <p:nvPr/>
        </p:nvSpPr>
        <p:spPr>
          <a:xfrm>
            <a:off x="6324600" y="5114925"/>
            <a:ext cx="5257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0" name="Google Shape;230;p7"/>
          <p:cNvGrpSpPr/>
          <p:nvPr/>
        </p:nvGrpSpPr>
        <p:grpSpPr>
          <a:xfrm>
            <a:off x="6324600" y="5267325"/>
            <a:ext cx="5257800" cy="962025"/>
            <a:chOff x="6324600" y="5267325"/>
            <a:chExt cx="5257800" cy="962025"/>
          </a:xfrm>
        </p:grpSpPr>
        <p:sp>
          <p:nvSpPr>
            <p:cNvPr id="231" name="Google Shape;231;p7"/>
            <p:cNvSpPr/>
            <p:nvPr/>
          </p:nvSpPr>
          <p:spPr>
            <a:xfrm>
              <a:off x="6324600" y="5267325"/>
              <a:ext cx="52578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100"/>
                <a:buFont typeface="Arial"/>
                <a:buNone/>
              </a:pPr>
              <a:r>
                <a:rPr lang="en-US" sz="21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인프라 및 실행 환경</a:t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324600" y="5676900"/>
              <a:ext cx="52578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600"/>
                <a:buFont typeface="Arial"/>
                <a:buNone/>
              </a:pPr>
              <a:r>
                <a:rPr lang="en-US" sz="16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[서버·배포 또는 로컬 실행 환경]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600"/>
                <a:buFont typeface="Arial"/>
                <a:buNone/>
              </a:pPr>
              <a:r>
                <a:rPr lang="en-US" sz="16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[실행 환경의 주요 역할]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07 / TEAM ROLES &amp; COLLABORATION</a:t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242" name="Google Shape;242;p8"/>
          <p:cNvSpPr/>
          <p:nvPr/>
        </p:nvSpPr>
        <p:spPr>
          <a:xfrm>
            <a:off x="609600" y="85725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팀원별 역할 분담</a:t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609600" y="1365000"/>
            <a:ext cx="40131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2700"/>
              <a:buFont typeface="Arial"/>
              <a:buNone/>
            </a:pPr>
            <a:r>
              <a:rPr lang="en-US" sz="25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[팀의 협업 목표 한 문장]</a:t>
            </a:r>
            <a:endParaRPr sz="2500"/>
          </a:p>
        </p:txBody>
      </p:sp>
      <p:grpSp>
        <p:nvGrpSpPr>
          <p:cNvPr id="244" name="Google Shape;244;p8"/>
          <p:cNvGrpSpPr/>
          <p:nvPr/>
        </p:nvGrpSpPr>
        <p:grpSpPr>
          <a:xfrm>
            <a:off x="609600" y="2134098"/>
            <a:ext cx="3505200" cy="3076575"/>
            <a:chOff x="609600" y="2686050"/>
            <a:chExt cx="3505200" cy="3076575"/>
          </a:xfrm>
        </p:grpSpPr>
        <p:sp>
          <p:nvSpPr>
            <p:cNvPr id="245" name="Google Shape;245;p8"/>
            <p:cNvSpPr/>
            <p:nvPr/>
          </p:nvSpPr>
          <p:spPr>
            <a:xfrm>
              <a:off x="609600" y="2686050"/>
              <a:ext cx="3505200" cy="38100"/>
            </a:xfrm>
            <a:prstGeom prst="rect">
              <a:avLst/>
            </a:prstGeom>
            <a:solidFill>
              <a:srgbClr val="FFB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8"/>
            <p:cNvSpPr/>
            <p:nvPr/>
          </p:nvSpPr>
          <p:spPr>
            <a:xfrm>
              <a:off x="609600" y="287655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MEMBER 01</a:t>
              </a:r>
              <a:endParaRPr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609600" y="3228975"/>
              <a:ext cx="3505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300"/>
                <a:buFont typeface="Arial"/>
                <a:buNone/>
              </a:pPr>
              <a:r>
                <a:rPr lang="en-US" sz="23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[팀원 1 이름]</a:t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609600" y="3724275"/>
              <a:ext cx="3505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[담당 역할]</a:t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609600" y="426720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담당 업무</a:t>
              </a:r>
              <a:endParaRPr/>
            </a:p>
          </p:txBody>
        </p:sp>
        <p:sp>
          <p:nvSpPr>
            <p:cNvPr id="250" name="Google Shape;250;p8"/>
            <p:cNvSpPr/>
            <p:nvPr/>
          </p:nvSpPr>
          <p:spPr>
            <a:xfrm>
              <a:off x="609600" y="4591050"/>
              <a:ext cx="3505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[구체적으로 수행한 업무]</a:t>
              </a: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609600" y="508635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기여 결과</a:t>
              </a:r>
              <a:endParaRPr/>
            </a:p>
          </p:txBody>
        </p:sp>
        <p:sp>
          <p:nvSpPr>
            <p:cNvPr id="252" name="Google Shape;252;p8"/>
            <p:cNvSpPr/>
            <p:nvPr/>
          </p:nvSpPr>
          <p:spPr>
            <a:xfrm>
              <a:off x="609600" y="5400675"/>
              <a:ext cx="3505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[구현 기능·산출물]</a:t>
              </a:r>
              <a:endParaRPr/>
            </a:p>
          </p:txBody>
        </p:sp>
      </p:grpSp>
      <p:grpSp>
        <p:nvGrpSpPr>
          <p:cNvPr id="253" name="Google Shape;253;p8"/>
          <p:cNvGrpSpPr/>
          <p:nvPr/>
        </p:nvGrpSpPr>
        <p:grpSpPr>
          <a:xfrm>
            <a:off x="4343400" y="2134098"/>
            <a:ext cx="3505200" cy="3076575"/>
            <a:chOff x="4343400" y="2686050"/>
            <a:chExt cx="3505200" cy="3076575"/>
          </a:xfrm>
        </p:grpSpPr>
        <p:sp>
          <p:nvSpPr>
            <p:cNvPr id="254" name="Google Shape;254;p8"/>
            <p:cNvSpPr/>
            <p:nvPr/>
          </p:nvSpPr>
          <p:spPr>
            <a:xfrm>
              <a:off x="4343400" y="2686050"/>
              <a:ext cx="3505200" cy="38100"/>
            </a:xfrm>
            <a:prstGeom prst="rect">
              <a:avLst/>
            </a:prstGeom>
            <a:solidFill>
              <a:srgbClr val="FFB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4343400" y="287655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MEMBER 02</a:t>
              </a: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4343400" y="3228975"/>
              <a:ext cx="3505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300"/>
                <a:buFont typeface="Arial"/>
                <a:buNone/>
              </a:pPr>
              <a:r>
                <a:rPr lang="en-US" sz="23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[팀원 2 이름]</a:t>
              </a: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4343400" y="3724275"/>
              <a:ext cx="3505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[담당 역할]</a:t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4343400" y="426720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담당 업무</a:t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4343400" y="4591050"/>
              <a:ext cx="3505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[구체적으로 수행한 업무]</a:t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4343400" y="508635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기여 결과</a:t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4343400" y="5400675"/>
              <a:ext cx="3505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[구현 기능·산출물]</a:t>
              </a:r>
              <a:endParaRPr/>
            </a:p>
          </p:txBody>
        </p:sp>
      </p:grpSp>
      <p:grpSp>
        <p:nvGrpSpPr>
          <p:cNvPr id="262" name="Google Shape;262;p8"/>
          <p:cNvGrpSpPr/>
          <p:nvPr/>
        </p:nvGrpSpPr>
        <p:grpSpPr>
          <a:xfrm>
            <a:off x="8077200" y="2134098"/>
            <a:ext cx="3505200" cy="3076575"/>
            <a:chOff x="8077200" y="2686050"/>
            <a:chExt cx="3505200" cy="3076575"/>
          </a:xfrm>
        </p:grpSpPr>
        <p:sp>
          <p:nvSpPr>
            <p:cNvPr id="263" name="Google Shape;263;p8"/>
            <p:cNvSpPr/>
            <p:nvPr/>
          </p:nvSpPr>
          <p:spPr>
            <a:xfrm>
              <a:off x="8077200" y="2686050"/>
              <a:ext cx="3505200" cy="38100"/>
            </a:xfrm>
            <a:prstGeom prst="rect">
              <a:avLst/>
            </a:prstGeom>
            <a:solidFill>
              <a:srgbClr val="FFB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8077200" y="287655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MEMBER 03</a:t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8077200" y="3228975"/>
              <a:ext cx="3505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300"/>
                <a:buFont typeface="Arial"/>
                <a:buNone/>
              </a:pPr>
              <a:r>
                <a:rPr lang="en-US" sz="23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[팀원 3 이름]</a:t>
              </a: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8077200" y="3724275"/>
              <a:ext cx="3505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[담당 역할]</a:t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8077200" y="426720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담당 업무</a:t>
              </a: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8077200" y="4591050"/>
              <a:ext cx="3505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[구체적으로 수행한 업무]</a:t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8077200" y="5086350"/>
              <a:ext cx="350520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기여 결과</a:t>
              </a: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8077200" y="5400675"/>
              <a:ext cx="3505200" cy="361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[구현 기능·산출물]</a:t>
              </a:r>
              <a:endParaRPr/>
            </a:p>
          </p:txBody>
        </p:sp>
      </p:grpSp>
      <p:sp>
        <p:nvSpPr>
          <p:cNvPr id="271" name="Google Shape;271;p8"/>
          <p:cNvSpPr/>
          <p:nvPr/>
        </p:nvSpPr>
        <p:spPr>
          <a:xfrm>
            <a:off x="609600" y="590550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609600" y="6048375"/>
            <a:ext cx="14287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300"/>
              <a:buFont typeface="Arial"/>
              <a:buNone/>
            </a:pPr>
            <a:r>
              <a:rPr lang="en-US" sz="13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협업 방식</a:t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2190750" y="6019800"/>
            <a:ext cx="93916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500"/>
              <a:buFont typeface="Arial"/>
              <a:buNone/>
            </a:pPr>
            <a:r>
              <a:rPr lang="en-US" sz="15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[업무 배정 방식]    →    [작업 공유·통합 방식]    →    [통합·검증 과정]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08 / EXTERNAL RESOURCES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282" name="Google Shape;282;p9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09600" y="857250"/>
            <a:ext cx="109728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400"/>
              <a:buFont typeface="Arial"/>
              <a:buNone/>
            </a:pPr>
            <a:r>
              <a:rPr lang="en-US" sz="34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외부 자원 활용 내역</a:t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09600" y="17145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2000"/>
              <a:buFont typeface="Arial"/>
              <a:buNone/>
            </a:pPr>
            <a:r>
              <a:rPr lang="en-US" sz="20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프로젝트에 사용한 외부 자원 및 사전 보유 코드</a:t>
            </a:r>
            <a:endParaRPr/>
          </a:p>
        </p:txBody>
      </p:sp>
      <p:graphicFrame>
        <p:nvGraphicFramePr>
          <p:cNvPr id="285" name="Google Shape;285;p9"/>
          <p:cNvGraphicFramePr/>
          <p:nvPr/>
        </p:nvGraphicFramePr>
        <p:xfrm>
          <a:off x="609600" y="2390775"/>
          <a:ext cx="10972800" cy="3324225"/>
        </p:xfrm>
        <a:graphic>
          <a:graphicData uri="http://schemas.openxmlformats.org/drawingml/2006/table">
            <a:tbl>
              <a:tblPr>
                <a:noFill/>
                <a:tableStyleId>{55738E33-45E3-4656-82C1-05467E921EFD}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2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F7F6F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062F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2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rgbClr val="F7F6F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명칭</a:t>
                      </a:r>
                      <a:endParaRPr/>
                    </a:p>
                  </a:txBody>
                  <a:tcPr marL="91450" marR="91450" marT="45725" marB="45725" anchor="ctr">
                    <a:lnT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062F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2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rgbClr val="F7F6F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용도</a:t>
                      </a:r>
                      <a:endParaRPr/>
                    </a:p>
                  </a:txBody>
                  <a:tcPr marL="91450" marR="91450" marT="45725" marB="45725" anchor="ctr">
                    <a:lnT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062F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7F6F2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rgbClr val="F7F6F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라이선스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062F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F5B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rgbClr val="062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오픈소스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[명칭·버전]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[활용 용도]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[라이선스]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F5B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rgbClr val="062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외부 API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[API·모델명]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[활용 용도]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[라이선스·이용 조건]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F5B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rgbClr val="062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사전 보유 코드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[코드명]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[활용 용도]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[라이선스·조건]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2F5B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>
                          <a:solidFill>
                            <a:srgbClr val="062F5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기타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[명칭]</a:t>
                      </a:r>
                      <a:endParaRPr/>
                    </a:p>
                  </a:txBody>
                  <a:tcPr marL="91450" marR="91450" marT="45725" marB="45725" anchor="ctr">
                    <a:lnB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[활용 용도]</a:t>
                      </a:r>
                      <a:endParaRPr/>
                    </a:p>
                  </a:txBody>
                  <a:tcPr marL="91450" marR="91450" marT="45725" marB="45725" anchor="ctr">
                    <a:lnB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5707C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>
                          <a:solidFill>
                            <a:srgbClr val="65707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[라이선스·조건]</a:t>
                      </a:r>
                      <a:endParaRPr/>
                    </a:p>
                  </a:txBody>
                  <a:tcPr marL="91450" marR="91450" marT="45725" marB="45725" anchor="ctr">
                    <a:lnR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CCD3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6" name="Google Shape;286;p9"/>
          <p:cNvSpPr/>
          <p:nvPr/>
        </p:nvSpPr>
        <p:spPr>
          <a:xfrm>
            <a:off x="609600" y="5953125"/>
            <a:ext cx="10972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300"/>
              <a:buFont typeface="Arial"/>
              <a:buNone/>
            </a:pPr>
            <a:r>
              <a:rPr lang="en-US" sz="13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해당 사항이 없는 구분은 “해당 없음”으로 기재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0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09 / EXPECTED IMPACT &amp; FEASIBILITY</a:t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09600" y="866775"/>
            <a:ext cx="615696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3400"/>
              <a:buFont typeface="Arial"/>
              <a:buNone/>
            </a:pP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기대</a:t>
            </a:r>
            <a:r>
              <a:rPr lang="en-US" sz="34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효과</a:t>
            </a:r>
            <a:r>
              <a:rPr lang="en-US" sz="34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및</a:t>
            </a:r>
            <a:r>
              <a:rPr lang="en-US" sz="34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실제</a:t>
            </a:r>
            <a:r>
              <a:rPr lang="en-US" sz="34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적용</a:t>
            </a:r>
            <a:r>
              <a:rPr lang="en-US" sz="34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4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가능성</a:t>
            </a:r>
            <a:endParaRPr dirty="0"/>
          </a:p>
        </p:txBody>
      </p:sp>
      <p:sp>
        <p:nvSpPr>
          <p:cNvPr id="297" name="Google Shape;297;p10"/>
          <p:cNvSpPr/>
          <p:nvPr/>
        </p:nvSpPr>
        <p:spPr>
          <a:xfrm>
            <a:off x="609600" y="1419750"/>
            <a:ext cx="7878184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누구의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어떤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문제가</a:t>
            </a:r>
            <a:r>
              <a:rPr lang="en-US" dirty="0"/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어떻게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개선될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것으로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기대되는가</a:t>
            </a:r>
            <a:r>
              <a:rPr lang="en-US" sz="2500" b="1" dirty="0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grpSp>
        <p:nvGrpSpPr>
          <p:cNvPr id="298" name="Google Shape;298;p10"/>
          <p:cNvGrpSpPr/>
          <p:nvPr/>
        </p:nvGrpSpPr>
        <p:grpSpPr>
          <a:xfrm>
            <a:off x="6324600" y="2186361"/>
            <a:ext cx="5257800" cy="1657350"/>
            <a:chOff x="6324600" y="2600325"/>
            <a:chExt cx="5257800" cy="1657350"/>
          </a:xfrm>
        </p:grpSpPr>
        <p:sp>
          <p:nvSpPr>
            <p:cNvPr id="299" name="Google Shape;299;p10"/>
            <p:cNvSpPr/>
            <p:nvPr/>
          </p:nvSpPr>
          <p:spPr>
            <a:xfrm>
              <a:off x="6324600" y="2600325"/>
              <a:ext cx="5257800" cy="47700"/>
            </a:xfrm>
            <a:prstGeom prst="rect">
              <a:avLst/>
            </a:prstGeom>
            <a:solidFill>
              <a:srgbClr val="FFB5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6324600" y="2724150"/>
              <a:ext cx="52387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AFTER</a:t>
              </a:r>
              <a:endParaRPr/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6324600" y="3057525"/>
              <a:ext cx="5257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400"/>
                <a:buFont typeface="Arial"/>
                <a:buNone/>
              </a:pPr>
              <a:r>
                <a:rPr lang="en-US" sz="24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서비스 적용 후</a:t>
              </a:r>
              <a:endParaRPr/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6324600" y="3648075"/>
              <a:ext cx="5257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800"/>
                <a:buFont typeface="Arial"/>
                <a:buNone/>
              </a:pPr>
              <a:r>
                <a:rPr lang="en-US" sz="18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[기대되는 개선·사용자가 얻는 이점]</a:t>
              </a:r>
              <a:endParaRPr/>
            </a:p>
          </p:txBody>
        </p:sp>
      </p:grpSp>
      <p:sp>
        <p:nvSpPr>
          <p:cNvPr id="303" name="Google Shape;303;p10"/>
          <p:cNvSpPr/>
          <p:nvPr/>
        </p:nvSpPr>
        <p:spPr>
          <a:xfrm>
            <a:off x="609600" y="4543425"/>
            <a:ext cx="10972800" cy="9525"/>
          </a:xfrm>
          <a:prstGeom prst="rect">
            <a:avLst/>
          </a:prstGeom>
          <a:solidFill>
            <a:srgbClr val="CCD3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4" name="Google Shape;304;p10"/>
          <p:cNvGrpSpPr/>
          <p:nvPr/>
        </p:nvGrpSpPr>
        <p:grpSpPr>
          <a:xfrm>
            <a:off x="609600" y="4724400"/>
            <a:ext cx="5257800" cy="828675"/>
            <a:chOff x="609600" y="4724400"/>
            <a:chExt cx="5257800" cy="828675"/>
          </a:xfrm>
        </p:grpSpPr>
        <p:sp>
          <p:nvSpPr>
            <p:cNvPr id="305" name="Google Shape;305;p10"/>
            <p:cNvSpPr/>
            <p:nvPr/>
          </p:nvSpPr>
          <p:spPr>
            <a:xfrm>
              <a:off x="609600" y="4724400"/>
              <a:ext cx="525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기대 효과·확인 지표</a:t>
              </a:r>
              <a:endParaRPr/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609600" y="5172075"/>
              <a:ext cx="5257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[기대 효과와 효과를 확인할 지표]</a:t>
              </a:r>
              <a:endParaRPr/>
            </a:p>
          </p:txBody>
        </p:sp>
      </p:grpSp>
      <p:grpSp>
        <p:nvGrpSpPr>
          <p:cNvPr id="307" name="Google Shape;307;p10"/>
          <p:cNvGrpSpPr/>
          <p:nvPr/>
        </p:nvGrpSpPr>
        <p:grpSpPr>
          <a:xfrm>
            <a:off x="6324600" y="4724400"/>
            <a:ext cx="5257800" cy="828675"/>
            <a:chOff x="6324600" y="4724400"/>
            <a:chExt cx="5257800" cy="828675"/>
          </a:xfrm>
        </p:grpSpPr>
        <p:sp>
          <p:nvSpPr>
            <p:cNvPr id="308" name="Google Shape;308;p10"/>
            <p:cNvSpPr/>
            <p:nvPr/>
          </p:nvSpPr>
          <p:spPr>
            <a:xfrm>
              <a:off x="6324600" y="4724400"/>
              <a:ext cx="5257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000"/>
                <a:buFont typeface="Arial"/>
                <a:buNone/>
              </a:pPr>
              <a:r>
                <a:rPr lang="en-US" sz="20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실제 적용 가능성</a:t>
              </a:r>
              <a:endParaRPr/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6324600" y="5172075"/>
              <a:ext cx="5257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700"/>
                <a:buFont typeface="Arial"/>
                <a:buNone/>
              </a:pPr>
              <a:r>
                <a:rPr lang="en-US" sz="17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[적용 대상·환경·도입 조건]</a:t>
              </a:r>
              <a:endParaRPr/>
            </a:p>
          </p:txBody>
        </p:sp>
      </p:grpSp>
      <p:sp>
        <p:nvSpPr>
          <p:cNvPr id="310" name="Google Shape;310;p10"/>
          <p:cNvSpPr/>
          <p:nvPr/>
        </p:nvSpPr>
        <p:spPr>
          <a:xfrm>
            <a:off x="609600" y="5829300"/>
            <a:ext cx="2381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62F5B"/>
              </a:buClr>
              <a:buSzPts val="1700"/>
              <a:buFont typeface="Arial"/>
              <a:buNone/>
            </a:pPr>
            <a:r>
              <a:rPr lang="en-US" sz="1700" b="1">
                <a:solidFill>
                  <a:srgbClr val="062F5B"/>
                </a:solidFill>
                <a:latin typeface="Arial"/>
                <a:ea typeface="Arial"/>
                <a:cs typeface="Arial"/>
                <a:sym typeface="Arial"/>
              </a:rPr>
              <a:t>실제 검증 결과</a:t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3429000" y="5819775"/>
            <a:ext cx="81534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5707C"/>
              </a:buClr>
              <a:buSzPts val="1700"/>
              <a:buFont typeface="Arial"/>
              <a:buNone/>
            </a:pPr>
            <a:r>
              <a:rPr lang="en-US" sz="1700" b="0">
                <a:solidFill>
                  <a:srgbClr val="65707C"/>
                </a:solidFill>
                <a:latin typeface="Arial"/>
                <a:ea typeface="Arial"/>
                <a:cs typeface="Arial"/>
                <a:sym typeface="Arial"/>
              </a:rPr>
              <a:t>[확인된 효과와 근거가 있는 경우]</a:t>
            </a:r>
            <a:endParaRPr/>
          </a:p>
        </p:txBody>
      </p:sp>
      <p:grpSp>
        <p:nvGrpSpPr>
          <p:cNvPr id="312" name="Google Shape;312;p10"/>
          <p:cNvGrpSpPr/>
          <p:nvPr/>
        </p:nvGrpSpPr>
        <p:grpSpPr>
          <a:xfrm>
            <a:off x="609600" y="2186361"/>
            <a:ext cx="5257800" cy="1657350"/>
            <a:chOff x="609600" y="2600325"/>
            <a:chExt cx="5257800" cy="1657350"/>
          </a:xfrm>
        </p:grpSpPr>
        <p:sp>
          <p:nvSpPr>
            <p:cNvPr id="313" name="Google Shape;313;p10"/>
            <p:cNvSpPr/>
            <p:nvPr/>
          </p:nvSpPr>
          <p:spPr>
            <a:xfrm>
              <a:off x="609600" y="2724150"/>
              <a:ext cx="5238750" cy="238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1200"/>
                <a:buFont typeface="Arial"/>
                <a:buNone/>
              </a:pPr>
              <a:r>
                <a:rPr lang="en-US" sz="12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BEFORE</a:t>
              </a:r>
              <a:endParaRPr/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609600" y="3057525"/>
              <a:ext cx="52578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2F5B"/>
                </a:buClr>
                <a:buSzPts val="2400"/>
                <a:buFont typeface="Arial"/>
                <a:buNone/>
              </a:pPr>
              <a:r>
                <a:rPr lang="en-US" sz="2400" b="1">
                  <a:solidFill>
                    <a:srgbClr val="062F5B"/>
                  </a:solidFill>
                  <a:latin typeface="Arial"/>
                  <a:ea typeface="Arial"/>
                  <a:cs typeface="Arial"/>
                  <a:sym typeface="Arial"/>
                </a:rPr>
                <a:t>기존 상황</a:t>
              </a:r>
              <a:endParaRPr/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609600" y="3648075"/>
              <a:ext cx="5257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5707C"/>
                </a:buClr>
                <a:buSzPts val="1800"/>
                <a:buFont typeface="Arial"/>
                <a:buNone/>
              </a:pPr>
              <a:r>
                <a:rPr lang="en-US" sz="1800" b="0">
                  <a:solidFill>
                    <a:srgbClr val="65707C"/>
                  </a:solidFill>
                  <a:latin typeface="Arial"/>
                  <a:ea typeface="Arial"/>
                  <a:cs typeface="Arial"/>
                  <a:sym typeface="Arial"/>
                </a:rPr>
                <a:t>[기존 문제·사용자의 불편·비효율]</a:t>
              </a:r>
              <a:endParaRPr/>
            </a:p>
          </p:txBody>
        </p:sp>
        <p:sp>
          <p:nvSpPr>
            <p:cNvPr id="316" name="Google Shape;316;p10"/>
            <p:cNvSpPr/>
            <p:nvPr/>
          </p:nvSpPr>
          <p:spPr>
            <a:xfrm>
              <a:off x="609600" y="2600325"/>
              <a:ext cx="4191000" cy="19200"/>
            </a:xfrm>
            <a:prstGeom prst="rect">
              <a:avLst/>
            </a:prstGeom>
            <a:solidFill>
              <a:srgbClr val="CCD3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F5B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/>
          <p:nvPr/>
        </p:nvSpPr>
        <p:spPr>
          <a:xfrm>
            <a:off x="609600" y="304800"/>
            <a:ext cx="85725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D6E1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CD6E1"/>
                </a:solidFill>
                <a:latin typeface="Arial"/>
                <a:ea typeface="Arial"/>
                <a:cs typeface="Arial"/>
                <a:sym typeface="Arial"/>
              </a:rPr>
              <a:t>10 / FUTURE DEVELOPMENT &amp; SCALABILITY</a:t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609600" y="6343650"/>
            <a:ext cx="10972800" cy="9525"/>
          </a:xfrm>
          <a:prstGeom prst="rect">
            <a:avLst/>
          </a:prstGeom>
          <a:solidFill>
            <a:srgbClr val="47678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609600" y="6467475"/>
            <a:ext cx="66675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D6E1"/>
              </a:buClr>
              <a:buSzPts val="1100"/>
              <a:buFont typeface="Arial"/>
              <a:buNone/>
            </a:pPr>
            <a:r>
              <a:rPr lang="en-US" sz="1100" b="0">
                <a:solidFill>
                  <a:srgbClr val="CCD6E1"/>
                </a:solidFill>
                <a:latin typeface="Arial"/>
                <a:ea typeface="Arial"/>
                <a:cs typeface="Arial"/>
                <a:sym typeface="Arial"/>
              </a:rPr>
              <a:t>CODYSSEY AI HACKATHON 2026</a:t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10820400" y="6448425"/>
            <a:ext cx="76200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CD6E1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CCD6E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609600" y="857250"/>
            <a:ext cx="6286500" cy="130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B515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B515"/>
                </a:solidFill>
                <a:latin typeface="Arial"/>
                <a:ea typeface="Arial"/>
                <a:cs typeface="Arial"/>
                <a:sym typeface="Arial"/>
              </a:rPr>
              <a:t>확장 가능성 및</a:t>
            </a:r>
            <a:r>
              <a:rPr lang="en-US" sz="3600"/>
              <a:t> </a:t>
            </a:r>
            <a:r>
              <a:rPr lang="en-US" sz="3600" b="1">
                <a:solidFill>
                  <a:srgbClr val="FFB515"/>
                </a:solidFill>
                <a:latin typeface="Arial"/>
                <a:ea typeface="Arial"/>
                <a:cs typeface="Arial"/>
                <a:sym typeface="Arial"/>
              </a:rPr>
              <a:t>향후 개발 방향</a:t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609600" y="1439108"/>
            <a:ext cx="5057700" cy="4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7F6F2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en-US" sz="2500" b="1" dirty="0" err="1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현재</a:t>
            </a:r>
            <a:r>
              <a:rPr lang="en-US" sz="2500" b="1" dirty="0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서비스를</a:t>
            </a:r>
            <a:r>
              <a:rPr lang="en-US" sz="2500" b="1" dirty="0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발전시킬</a:t>
            </a:r>
            <a:r>
              <a:rPr lang="en-US" sz="2500" dirty="0"/>
              <a:t> </a:t>
            </a:r>
            <a:r>
              <a:rPr lang="en-US" sz="2500" b="1" dirty="0" err="1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핵심</a:t>
            </a:r>
            <a:r>
              <a:rPr lang="en-US" sz="2500" b="1" dirty="0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00" b="1" dirty="0" err="1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방향</a:t>
            </a:r>
            <a:r>
              <a:rPr lang="en-US" sz="2500" b="1" dirty="0">
                <a:solidFill>
                  <a:srgbClr val="F7F6F2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dirty="0"/>
          </a:p>
        </p:txBody>
      </p:sp>
      <p:grpSp>
        <p:nvGrpSpPr>
          <p:cNvPr id="328" name="Google Shape;328;p11"/>
          <p:cNvGrpSpPr/>
          <p:nvPr/>
        </p:nvGrpSpPr>
        <p:grpSpPr>
          <a:xfrm>
            <a:off x="609600" y="2550630"/>
            <a:ext cx="3505200" cy="2562225"/>
            <a:chOff x="609600" y="2895600"/>
            <a:chExt cx="3505200" cy="2562225"/>
          </a:xfrm>
        </p:grpSpPr>
        <p:sp>
          <p:nvSpPr>
            <p:cNvPr id="329" name="Google Shape;329;p11"/>
            <p:cNvSpPr/>
            <p:nvPr/>
          </p:nvSpPr>
          <p:spPr>
            <a:xfrm>
              <a:off x="609600" y="2895600"/>
              <a:ext cx="3505200" cy="9525"/>
            </a:xfrm>
            <a:prstGeom prst="rect">
              <a:avLst/>
            </a:prstGeom>
            <a:solidFill>
              <a:srgbClr val="4767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0" name="Google Shape;330;p11"/>
            <p:cNvGrpSpPr/>
            <p:nvPr/>
          </p:nvGrpSpPr>
          <p:grpSpPr>
            <a:xfrm>
              <a:off x="609600" y="3048000"/>
              <a:ext cx="3505200" cy="2409825"/>
              <a:chOff x="609600" y="3048000"/>
              <a:chExt cx="3505200" cy="2409825"/>
            </a:xfrm>
          </p:grpSpPr>
          <p:sp>
            <p:nvSpPr>
              <p:cNvPr id="331" name="Google Shape;331;p11"/>
              <p:cNvSpPr/>
              <p:nvPr/>
            </p:nvSpPr>
            <p:spPr>
              <a:xfrm>
                <a:off x="609600" y="3048000"/>
                <a:ext cx="3505200" cy="657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515"/>
                  </a:buClr>
                  <a:buSzPts val="3800"/>
                  <a:buFont typeface="Arial"/>
                  <a:buNone/>
                </a:pPr>
                <a:r>
                  <a:rPr lang="en-US" sz="3800" b="1">
                    <a:solidFill>
                      <a:srgbClr val="FFB515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/>
              </a:p>
            </p:txBody>
          </p:sp>
          <p:sp>
            <p:nvSpPr>
              <p:cNvPr id="332" name="Google Shape;332;p11"/>
              <p:cNvSpPr/>
              <p:nvPr/>
            </p:nvSpPr>
            <p:spPr>
              <a:xfrm>
                <a:off x="609600" y="3914775"/>
                <a:ext cx="3505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7F6F2"/>
                  </a:buClr>
                  <a:buSzPts val="2300"/>
                  <a:buFont typeface="Arial"/>
                  <a:buNone/>
                </a:pPr>
                <a:r>
                  <a:rPr lang="en-US" sz="2300" b="1">
                    <a:solidFill>
                      <a:srgbClr val="F7F6F2"/>
                    </a:solidFill>
                    <a:latin typeface="Arial"/>
                    <a:ea typeface="Arial"/>
                    <a:cs typeface="Arial"/>
                    <a:sym typeface="Arial"/>
                  </a:rPr>
                  <a:t>현재 구현 범위</a:t>
                </a:r>
                <a:endParaRPr/>
              </a:p>
            </p:txBody>
          </p:sp>
          <p:sp>
            <p:nvSpPr>
              <p:cNvPr id="333" name="Google Shape;333;p11"/>
              <p:cNvSpPr/>
              <p:nvPr/>
            </p:nvSpPr>
            <p:spPr>
              <a:xfrm>
                <a:off x="609600" y="4524375"/>
                <a:ext cx="35052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700"/>
                  <a:buFont typeface="Arial"/>
                  <a:buNone/>
                </a:pPr>
                <a:r>
                  <a:rPr lang="en-US" sz="1700" b="0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[완료한 핵심 기능]</a:t>
                </a:r>
                <a:endParaRPr/>
              </a:p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700"/>
                  <a:buFont typeface="Arial"/>
                  <a:buNone/>
                </a:pPr>
                <a:r>
                  <a:rPr lang="en-US" sz="1700" b="0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[현재 검증한 범위]</a:t>
                </a:r>
                <a:endParaRPr/>
              </a:p>
            </p:txBody>
          </p:sp>
        </p:grpSp>
      </p:grpSp>
      <p:grpSp>
        <p:nvGrpSpPr>
          <p:cNvPr id="334" name="Google Shape;334;p11"/>
          <p:cNvGrpSpPr/>
          <p:nvPr/>
        </p:nvGrpSpPr>
        <p:grpSpPr>
          <a:xfrm>
            <a:off x="4343400" y="2550630"/>
            <a:ext cx="3505200" cy="2562225"/>
            <a:chOff x="4343400" y="2895600"/>
            <a:chExt cx="3505200" cy="2562225"/>
          </a:xfrm>
        </p:grpSpPr>
        <p:sp>
          <p:nvSpPr>
            <p:cNvPr id="335" name="Google Shape;335;p11"/>
            <p:cNvSpPr/>
            <p:nvPr/>
          </p:nvSpPr>
          <p:spPr>
            <a:xfrm>
              <a:off x="4343400" y="2895600"/>
              <a:ext cx="3505200" cy="9525"/>
            </a:xfrm>
            <a:prstGeom prst="rect">
              <a:avLst/>
            </a:prstGeom>
            <a:solidFill>
              <a:srgbClr val="4767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6" name="Google Shape;336;p11"/>
            <p:cNvGrpSpPr/>
            <p:nvPr/>
          </p:nvGrpSpPr>
          <p:grpSpPr>
            <a:xfrm>
              <a:off x="4343400" y="3048000"/>
              <a:ext cx="3505200" cy="2409825"/>
              <a:chOff x="4343400" y="3048000"/>
              <a:chExt cx="3505200" cy="2409825"/>
            </a:xfrm>
          </p:grpSpPr>
          <p:sp>
            <p:nvSpPr>
              <p:cNvPr id="337" name="Google Shape;337;p11"/>
              <p:cNvSpPr/>
              <p:nvPr/>
            </p:nvSpPr>
            <p:spPr>
              <a:xfrm>
                <a:off x="4343400" y="3048000"/>
                <a:ext cx="3505200" cy="657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515"/>
                  </a:buClr>
                  <a:buSzPts val="3800"/>
                  <a:buFont typeface="Arial"/>
                  <a:buNone/>
                </a:pPr>
                <a:r>
                  <a:rPr lang="en-US" sz="3800" b="1">
                    <a:solidFill>
                      <a:srgbClr val="FFB515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/>
              </a:p>
            </p:txBody>
          </p:sp>
          <p:sp>
            <p:nvSpPr>
              <p:cNvPr id="338" name="Google Shape;338;p11"/>
              <p:cNvSpPr/>
              <p:nvPr/>
            </p:nvSpPr>
            <p:spPr>
              <a:xfrm>
                <a:off x="4343400" y="3914775"/>
                <a:ext cx="3505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7F6F2"/>
                  </a:buClr>
                  <a:buSzPts val="2300"/>
                  <a:buFont typeface="Arial"/>
                  <a:buNone/>
                </a:pPr>
                <a:r>
                  <a:rPr lang="en-US" sz="2300" b="1">
                    <a:solidFill>
                      <a:srgbClr val="F7F6F2"/>
                    </a:solidFill>
                    <a:latin typeface="Arial"/>
                    <a:ea typeface="Arial"/>
                    <a:cs typeface="Arial"/>
                    <a:sym typeface="Arial"/>
                  </a:rPr>
                  <a:t>단기 개선 계획</a:t>
                </a:r>
                <a:endParaRPr/>
              </a:p>
            </p:txBody>
          </p:sp>
          <p:sp>
            <p:nvSpPr>
              <p:cNvPr id="339" name="Google Shape;339;p11"/>
              <p:cNvSpPr/>
              <p:nvPr/>
            </p:nvSpPr>
            <p:spPr>
              <a:xfrm>
                <a:off x="4343400" y="4524375"/>
                <a:ext cx="35052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700"/>
                  <a:buFont typeface="Arial"/>
                  <a:buNone/>
                </a:pPr>
                <a:r>
                  <a:rPr lang="en-US" sz="1700" b="0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[우선 개선할 요소와 이유]</a:t>
                </a:r>
                <a:endParaRPr/>
              </a:p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700"/>
                  <a:buFont typeface="Arial"/>
                  <a:buNone/>
                </a:pPr>
                <a:r>
                  <a:rPr lang="en-US" sz="1700" b="0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[개선 목표·필요 조건]</a:t>
                </a:r>
                <a:endParaRPr/>
              </a:p>
            </p:txBody>
          </p:sp>
        </p:grpSp>
      </p:grpSp>
      <p:grpSp>
        <p:nvGrpSpPr>
          <p:cNvPr id="340" name="Google Shape;340;p11"/>
          <p:cNvGrpSpPr/>
          <p:nvPr/>
        </p:nvGrpSpPr>
        <p:grpSpPr>
          <a:xfrm>
            <a:off x="8077200" y="2550630"/>
            <a:ext cx="3505200" cy="2562225"/>
            <a:chOff x="8077200" y="2895600"/>
            <a:chExt cx="3505200" cy="2562225"/>
          </a:xfrm>
        </p:grpSpPr>
        <p:sp>
          <p:nvSpPr>
            <p:cNvPr id="341" name="Google Shape;341;p11"/>
            <p:cNvSpPr/>
            <p:nvPr/>
          </p:nvSpPr>
          <p:spPr>
            <a:xfrm>
              <a:off x="8077200" y="2895600"/>
              <a:ext cx="3505200" cy="9525"/>
            </a:xfrm>
            <a:prstGeom prst="rect">
              <a:avLst/>
            </a:prstGeom>
            <a:solidFill>
              <a:srgbClr val="4767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2" name="Google Shape;342;p11"/>
            <p:cNvGrpSpPr/>
            <p:nvPr/>
          </p:nvGrpSpPr>
          <p:grpSpPr>
            <a:xfrm>
              <a:off x="8077200" y="3048000"/>
              <a:ext cx="3505200" cy="2409825"/>
              <a:chOff x="8077200" y="3048000"/>
              <a:chExt cx="3505200" cy="2409825"/>
            </a:xfrm>
          </p:grpSpPr>
          <p:sp>
            <p:nvSpPr>
              <p:cNvPr id="343" name="Google Shape;343;p11"/>
              <p:cNvSpPr/>
              <p:nvPr/>
            </p:nvSpPr>
            <p:spPr>
              <a:xfrm>
                <a:off x="8077200" y="3048000"/>
                <a:ext cx="3505200" cy="657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B515"/>
                  </a:buClr>
                  <a:buSzPts val="3800"/>
                  <a:buFont typeface="Arial"/>
                  <a:buNone/>
                </a:pPr>
                <a:r>
                  <a:rPr lang="en-US" sz="3800" b="1">
                    <a:solidFill>
                      <a:srgbClr val="FFB515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/>
              </a:p>
            </p:txBody>
          </p:sp>
          <p:sp>
            <p:nvSpPr>
              <p:cNvPr id="344" name="Google Shape;344;p11"/>
              <p:cNvSpPr/>
              <p:nvPr/>
            </p:nvSpPr>
            <p:spPr>
              <a:xfrm>
                <a:off x="8077200" y="3914775"/>
                <a:ext cx="3505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7F6F2"/>
                  </a:buClr>
                  <a:buSzPts val="2300"/>
                  <a:buFont typeface="Arial"/>
                  <a:buNone/>
                </a:pPr>
                <a:r>
                  <a:rPr lang="en-US" sz="2300" b="1">
                    <a:solidFill>
                      <a:srgbClr val="F7F6F2"/>
                    </a:solidFill>
                    <a:latin typeface="Arial"/>
                    <a:ea typeface="Arial"/>
                    <a:cs typeface="Arial"/>
                    <a:sym typeface="Arial"/>
                  </a:rPr>
                  <a:t>장기 확장 방향</a:t>
                </a:r>
                <a:endParaRPr/>
              </a:p>
            </p:txBody>
          </p:sp>
          <p:sp>
            <p:nvSpPr>
              <p:cNvPr id="345" name="Google Shape;345;p11"/>
              <p:cNvSpPr/>
              <p:nvPr/>
            </p:nvSpPr>
            <p:spPr>
              <a:xfrm>
                <a:off x="8077200" y="4524375"/>
                <a:ext cx="35052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700"/>
                  <a:buFont typeface="Arial"/>
                  <a:buNone/>
                </a:pPr>
                <a:r>
                  <a:rPr lang="en-US" sz="1700" b="0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[추가 적용 분야·대상]</a:t>
                </a:r>
                <a:endParaRPr/>
              </a:p>
              <a:p>
                <a:pPr marL="0" marR="0" lvl="0" indent="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D6E1"/>
                  </a:buClr>
                  <a:buSzPts val="1700"/>
                  <a:buFont typeface="Arial"/>
                  <a:buNone/>
                </a:pPr>
                <a:r>
                  <a:rPr lang="en-US" sz="1700" b="0">
                    <a:solidFill>
                      <a:srgbClr val="CCD6E1"/>
                    </a:solidFill>
                    <a:latin typeface="Arial"/>
                    <a:ea typeface="Arial"/>
                    <a:cs typeface="Arial"/>
                    <a:sym typeface="Arial"/>
                  </a:rPr>
                  <a:t>[확장 목표·필요 자원]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ODYSSEY Navy Yellow">
      <a:dk1>
        <a:srgbClr val="202020"/>
      </a:dk1>
      <a:lt1>
        <a:srgbClr val="FFFFFF"/>
      </a:lt1>
      <a:dk2>
        <a:srgbClr val="062F5B"/>
      </a:dk2>
      <a:lt2>
        <a:srgbClr val="F7F6F2"/>
      </a:lt2>
      <a:accent1>
        <a:srgbClr val="062F5B"/>
      </a:accent1>
      <a:accent2>
        <a:srgbClr val="FFB515"/>
      </a:accent2>
      <a:accent3>
        <a:srgbClr val="65707C"/>
      </a:accent3>
      <a:accent4>
        <a:srgbClr val="EAEDEB"/>
      </a:accent4>
      <a:accent5>
        <a:srgbClr val="202020"/>
      </a:accent5>
      <a:accent6>
        <a:srgbClr val="CCD6E1"/>
      </a:accent6>
      <a:hlink>
        <a:srgbClr val="062F5B"/>
      </a:hlink>
      <a:folHlink>
        <a:srgbClr val="062F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ODYSSEY Navy Yellow">
      <a:dk1>
        <a:srgbClr val="202020"/>
      </a:dk1>
      <a:lt1>
        <a:srgbClr val="FFFFFF"/>
      </a:lt1>
      <a:dk2>
        <a:srgbClr val="062F5B"/>
      </a:dk2>
      <a:lt2>
        <a:srgbClr val="F7F6F2"/>
      </a:lt2>
      <a:accent1>
        <a:srgbClr val="062F5B"/>
      </a:accent1>
      <a:accent2>
        <a:srgbClr val="FFB515"/>
      </a:accent2>
      <a:accent3>
        <a:srgbClr val="65707C"/>
      </a:accent3>
      <a:accent4>
        <a:srgbClr val="EAEDEB"/>
      </a:accent4>
      <a:accent5>
        <a:srgbClr val="202020"/>
      </a:accent5>
      <a:accent6>
        <a:srgbClr val="CCD6E1"/>
      </a:accent6>
      <a:hlink>
        <a:srgbClr val="062F5B"/>
      </a:hlink>
      <a:folHlink>
        <a:srgbClr val="062F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Macintosh PowerPoint</Application>
  <PresentationFormat>와이드스크린</PresentationFormat>
  <Paragraphs>205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1</cp:revision>
  <dcterms:modified xsi:type="dcterms:W3CDTF">2026-10-30T07:49:26Z</dcterms:modified>
</cp:coreProperties>
</file>